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USD per 1,000 calls</c:v>
                </c:pt>
              </c:strCache>
            </c:strRef>
          </c:tx>
          <c:spPr>
            <a:solidFill>
              <a:srgbClr val="9AA0A6"/>
            </a:solidFill>
          </c:spPr>
          <c:dPt>
            <c:idx val="0"/>
            <c:spPr>
              <a:solidFill>
                <a:srgbClr val="1A73E8"/>
              </a:solidFill>
            </c:spPr>
          </c:dPt>
          <c:cat>
            <c:strRef>
              <c:f>Sheet1!$A$2:$A$5</c:f>
              <c:strCache>
                <c:ptCount val="4"/>
                <c:pt idx="0">
                  <c:v>TypeSafe Jev</c:v>
                </c:pt>
                <c:pt idx="1">
                  <c:v>Gemini 3.5 Flash-Lite</c:v>
                </c:pt>
                <c:pt idx="2">
                  <c:v>Gemini 3.8 Flash</c:v>
                </c:pt>
                <c:pt idx="3">
                  <c:v>Gemini 3.1 Pro preview</c:v>
                </c:pt>
              </c:strCache>
            </c:strRef>
          </c:cat>
          <c:val>
            <c:numRef>
              <c:f>Sheet1!$B$2:$B$5</c:f>
              <c:numCache>
                <c:formatCode>General</c:formatCode>
                <c:ptCount val="4"/>
                <c:pt idx="0">
                  <c:v>0.046</c:v>
                </c:pt>
                <c:pt idx="1">
                  <c:v>0.71</c:v>
                </c:pt>
                <c:pt idx="2">
                  <c:v>1.39</c:v>
                </c:pt>
                <c:pt idx="3">
                  <c:v>4.0</c:v>
                </c:pt>
              </c:numCache>
            </c:numRef>
          </c:val>
        </c:ser>
        <c:dLbls>
          <c:numFmt formatCode="&quot;$&quot;0.00#" sourceLinked="0"/>
          <c:txPr>
            <a:bodyPr/>
            <a:lstStyle/>
            <a:p>
              <a:pPr>
                <a:defRPr sz="1100">
                  <a:latin typeface="Google Sans Flex"/>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ADCE0"/>
            </a:solidFill>
          </a:ln>
        </c:spPr>
        <c:txPr>
          <a:bodyPr/>
          <a:lstStyle/>
          <a:p>
            <a:pPr>
              <a:defRPr sz="1100"/>
            </a:pPr>
          </a:p>
        </c:txPr>
        <c:crossAx val="-2113994440"/>
        <c:crosses val="autoZero"/>
        <c:auto val="1"/>
        <c:lblAlgn val="ctr"/>
        <c:lblOffset val="100"/>
        <c:noMultiLvlLbl val="0"/>
      </c:catAx>
      <c:valAx>
        <c:axId val="-2113994440"/>
        <c:scaling>
          <c:max val="5.0"/>
        </c:scaling>
        <c:delete/>
        <c:axPos val="b"/>
        <c:majorTickMark val="out"/>
        <c:minorTickMark val="none"/>
        <c:tickLblPos val="nextTo"/>
        <c:crossAx val="-2068027336"/>
        <c:crosses val="autoZero"/>
      </c:valAx>
    </c:plotArea>
    <c:dispBlanksAs val="gap"/>
  </c:chart>
  <c:txPr>
    <a:bodyPr/>
    <a:lstStyle/>
    <a:p>
      <a:pPr>
        <a:defRPr sz="1100">
          <a:latin typeface="Google Sans Flex"/>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Hi, I'm Siddharth from Koffee after KitKat. This is aftercall: you keep your conversations, we handle the rest. We built it on Google Cloud for the Retail &amp; Commerce theme, with a consumer-intelligence angle. Retail and e-commerce brands talk to customers all day but listen to almost none of it. aftercall turns every conversation into structured insight.  [~0:00-0:15]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 retail, why customers buy, return, complain or churn is said out loud, in support calls, sales calls, WhatsApp and chat. Teams read a small sample, and AI voice agents push volume higher. aftercall asks every conversation the same questions. You group signals under trackers: a choice, a yes or no, or a score. Upload transcripts or recordings from any tool, and TypeSafe Jev answers each signal with a confidence score, so people only review the calls it is unsure about. It is built for D2C and e-commerce brands, marketplaces, retail chains, quick-commerce support teams and AI voice agents.  [~0:15-0:45]</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How is it different? Most tools sit inside one call platform and use a fixed list of topics. aftercall is not tied to any call or chat tool, you write the questions, and every answer carries a confidence score. How does it solve the problem? It reads every conversation, turns them into structured answers you can trend by channel, agent or campaign, and sends only the uncertain ones to people. The USP: the same questions on every conversation, at a fraction of the cost of running an LLM on each call, and the cost is shown before anything runs.  [~0:45-1:05]</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Nine things in the product. Trackers and signals. Any transcript or recording, transcribed by Gemini in the original language. Jev answers with confidence. Conditional trackers that only run when another answer matches. Insights across uploads: trends, breakdowns, movers. Ask alteria, aftercall's built-in AI, for plain-English questions with cited calls. Dashboards and CSV export, people and roles, projects, and the cost shown before anything runs.  [~1:05-1:15]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flow is five steps. One: define trackers. Two: upload a transcript or a recording; recordings are transcribed by Gemini with speakers labelled, in the original language. Three: aftercall shows the token cost before anything runs, and a call over 30 thousand tokens is flagged rather than run. Four: Jev answers every signal with a confidence score, and low-confidence answers go to human review. Five: act on it with insights, Ask alteria and CSV export. The chips at the bottom are illustrative retail signals, not a fixed list.  [~1:15-1:30]</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Two wireframes of the core experience. On the left, Ask alteria: you ask a plain-English question such as why customers return a product, and Gemini answers across every analysed call with the calls it used cited. On the right, the results view: each answer shows a confidence bar, and anything Jev is unsure about is flagged for review. These are illustrative wireframes; real screenshots of the build are on the snapshots slide.  [part of 1:30-2:05 live demo]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Under the hood, everything is on Google Cloud. The React web app is on Firebase Hosting, which rewrites slash API to Cloud Run, where a FastAPI service runs in asia-south1, scaling to zero. Firebase Authentication handles Google sign-in. Recordings go to Cloud Storage; Cloud Tasks runs one OIDC-verified task per call; Gemini on Vertex AI transcribes and powers Ask alteria; TypeSafe Jev, the one external service, answers the signals. Firestore holds every record and Secret Manager holds the keys.  [~2:30-2:50]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stack. On Google Cloud: Gemini on Vertex AI, Cloud Run, Firestore, Cloud Tasks, Cloud Storage, Firebase Authentication, Firebase Hosting and Secret Manager. For models, TypeSafe Jev for the signals, and three Gemini tiers: 3.8 Flash as standard and for transcription, 3.5 Flash-Lite for simple requests, and 3.1 Pro preview for complex ones. The web app is React 19 with Vite, Tailwind and TypeScript; the backend is Python 3.12 with FastAPI and pydantic.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Estimated from list prices per million tokens; these are estimates, not billed figures.</a:t>
            </a:r>
          </a:p>
          <a:p>
            <a:r>
              <a:t>Jev: $0.042 per 1M input tokens. A typical call with 5 signals is about 1,100 billed input tokens: 1,100 x $0.042 / 1,000,000 = $0.0000462, about $0.00005 per call, or $0.046 per 1,000 calls.</a:t>
            </a:r>
          </a:p>
          <a:p>
            <a:r>
              <a:t>Same call sent to Gemini (assume ~150 output tokens for 5 answers, no thinking): 3.8 Flash ($0.75 in / $3.75 out): 1,100 x 0.75 = 825 + 150 x 3.75 = 562.5, so $0.00139 per call, $1.39 per 1,000 (about 30x Jev). 3.5 Flash-Lite ($0.30 / $2.50): 330 + 375 = $0.000705 per call, $0.71 per 1,000. 3.1 Pro preview ($2 / $12): 2,200 + 1,800 = $0.0040 per call, $4.00 per 1,000.</a:t>
            </a:r>
          </a:p>
          <a:p>
            <a:r>
              <a:t>Recording: Gemini audio is about 32 tokens per second. A 10-minute recording is 600 s x 32 = 19,200 tokens x $0.75 / 1M = $0.0144 input on 3.8 Flash, plus roughly 2,000 transcript output tokens x $3.75 / 1M = $0.0075, about $0.022 per recording. Answering its signals on Jev adds well under $0.0001.</a:t>
            </a:r>
          </a:p>
          <a:p>
            <a:r>
              <a:t>Google Cloud infrastructure for the prototype stays within free tiers: Cloud Run scales to zero, Cloud Tasks has 1M free operations a month, Firestore has a free daily quota, so about $0 at demo scale.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These are real screenshots from the running build, on a sample dataset of clinic appointment-booking calls. The landing page, Insights across uploads, the Results table with confidence and a review flag, the Trackers screen with a conditional tracker, and a single call open with each answer and its confidence. For retail, the same screens would show return reasons, delivery complaints or churn risk.  [live demo ~1:30-2:30]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Real numbers from the live smoke test against live Jev, on a sample dataset. Five sample calls with five signals each: 25 of 25 answers matched the hand labels. Six calls analysed in about six seconds end to end. A call of about 29.6 thousand tokens was split automatically into five Jev requests and answered; a 32 thousand token call was flagged over the limit and not sent. Conditional trackers routed correctly five out of five. A typical call is about 1,100 billed input tokens for five signals, and the backend has 254 passing tests. On efficiency, Insights reads only call documents with a 30 second shared cache, about 20 times fewer Firestore reads. Confidence is mostly 0.84 to 1.00, with low-confidence answers going to review.  [~2:50-3:00]</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What is next: handling calls over 30 thousand tokens, live analysis of calls as they happen, connectors for Twilio, Exotel, Genesys, WhatsApp and CRMs, Hindi and regional-language benchmarks, cheaper Flash-Lite transcription once quality tests pass, billing with prepaid credits and a Pro plan, alerts on red-flag signals such as churn risk or a misstated policy, and multi-region deployment.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links: the public GitHub repository, the three-minute demo video, and the live final product at gen-lang-client-0902222994.web.app on Firebase Hosting. [Placeholders: GitHub link and demo video link are filled in by the team lead before submission.]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Same questions on every conversation, each answer with a confidence score, cheap enough to run on all of them. You keep your conversations, we handle the rest. Thank you.  [~2:55-3:00]</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gen-lang-client-0902222994.web.ap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gen-lang-client-0902222994.web.ap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304" y="2834640"/>
            <a:ext cx="36576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
        <p:nvSpPr>
          <p:cNvPr id="57" name="TextBox 56"/>
          <p:cNvSpPr txBox="1"/>
          <p:nvPr/>
        </p:nvSpPr>
        <p:spPr>
          <a:xfrm>
            <a:off x="274320" y="3310128"/>
            <a:ext cx="3566160" cy="1005840"/>
          </a:xfrm>
          <a:prstGeom prst="rect">
            <a:avLst/>
          </a:prstGeom>
          <a:noFill/>
        </p:spPr>
        <p:txBody>
          <a:bodyPr wrap="square" lIns="36576" rIns="36576" tIns="27432" bIns="27432" anchor="t">
            <a:spAutoFit/>
          </a:bodyPr>
          <a:lstStyle/>
          <a:p>
            <a:pPr algn="l">
              <a:spcAft>
                <a:spcPts val="500"/>
              </a:spcAft>
              <a:buNone/>
            </a:pPr>
            <a:r>
              <a:rPr sz="1300">
                <a:solidFill>
                  <a:srgbClr val="202124"/>
                </a:solidFill>
                <a:latin typeface="Google Sans Flex Medium"/>
                <a:ea typeface="Google Sans Flex Medium"/>
                <a:cs typeface="Google Sans Flex Medium"/>
                <a:sym typeface="Google Sans Flex Medium"/>
              </a:rPr>
              <a:t>a. Team name: </a:t>
            </a:r>
            <a:r>
              <a:rPr sz="1300">
                <a:solidFill>
                  <a:srgbClr val="202124"/>
                </a:solidFill>
                <a:latin typeface="Google Sans Flex SemiBold"/>
                <a:ea typeface="Google Sans Flex SemiBold"/>
                <a:cs typeface="Google Sans Flex SemiBold"/>
                <a:sym typeface="Google Sans Flex SemiBold"/>
              </a:rPr>
              <a:t>Koffee after KitKat</a:t>
            </a:r>
          </a:p>
          <a:p>
            <a:pPr algn="l">
              <a:spcAft>
                <a:spcPts val="500"/>
              </a:spcAft>
              <a:buNone/>
            </a:pPr>
            <a:r>
              <a:rPr sz="1300">
                <a:solidFill>
                  <a:srgbClr val="202124"/>
                </a:solidFill>
                <a:latin typeface="Google Sans Flex Medium"/>
                <a:ea typeface="Google Sans Flex Medium"/>
                <a:cs typeface="Google Sans Flex Medium"/>
                <a:sym typeface="Google Sans Flex Medium"/>
              </a:rPr>
              <a:t>b. Team leader name: </a:t>
            </a:r>
            <a:r>
              <a:rPr sz="1300">
                <a:solidFill>
                  <a:srgbClr val="202124"/>
                </a:solidFill>
                <a:latin typeface="Google Sans Flex SemiBold"/>
                <a:ea typeface="Google Sans Flex SemiBold"/>
                <a:cs typeface="Google Sans Flex SemiBold"/>
                <a:sym typeface="Google Sans Flex SemiBold"/>
              </a:rPr>
              <a:t>Siddharth Bhardwaj</a:t>
            </a:r>
          </a:p>
          <a:p>
            <a:pPr algn="l">
              <a:spcAft>
                <a:spcPts val="0"/>
              </a:spcAft>
              <a:buNone/>
            </a:pPr>
            <a:r>
              <a:rPr sz="1300">
                <a:solidFill>
                  <a:srgbClr val="202124"/>
                </a:solidFill>
                <a:latin typeface="Google Sans Flex Medium"/>
                <a:ea typeface="Google Sans Flex Medium"/>
                <a:cs typeface="Google Sans Flex Medium"/>
                <a:sym typeface="Google Sans Flex Medium"/>
              </a:rPr>
              <a:t>Product: </a:t>
            </a:r>
            <a:r>
              <a:rPr sz="1300">
                <a:solidFill>
                  <a:srgbClr val="202124"/>
                </a:solidFill>
                <a:latin typeface="Google Sans Flex SemiBold"/>
                <a:ea typeface="Google Sans Flex SemiBold"/>
                <a:cs typeface="Google Sans Flex SemiBold"/>
                <a:sym typeface="Google Sans Flex SemiBold"/>
              </a:rPr>
              <a:t>aftercall</a:t>
            </a:r>
          </a:p>
        </p:txBody>
      </p:sp>
      <p:sp>
        <p:nvSpPr>
          <p:cNvPr id="58" name="Rounded Rectangle 57"/>
          <p:cNvSpPr/>
          <p:nvPr/>
        </p:nvSpPr>
        <p:spPr>
          <a:xfrm>
            <a:off x="274320" y="4224528"/>
            <a:ext cx="3429000" cy="566928"/>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200">
                <a:solidFill>
                  <a:srgbClr val="1A73E8"/>
                </a:solidFill>
                <a:latin typeface="Google Sans Flex SemiBold"/>
                <a:ea typeface="Google Sans Flex SemiBold"/>
                <a:cs typeface="Google Sans Flex SemiBold"/>
                <a:sym typeface="Google Sans Flex SemiBold"/>
              </a:rPr>
              <a:t>You keep your conversations, we handle the rest.</a:t>
            </a:r>
          </a:p>
        </p:txBody>
      </p:sp>
      <p:sp>
        <p:nvSpPr>
          <p:cNvPr id="59" name="TextBox 58"/>
          <p:cNvSpPr txBox="1"/>
          <p:nvPr/>
        </p:nvSpPr>
        <p:spPr>
          <a:xfrm>
            <a:off x="3977639" y="2907792"/>
            <a:ext cx="4937760" cy="2103120"/>
          </a:xfrm>
          <a:prstGeom prst="rect">
            <a:avLst/>
          </a:prstGeom>
          <a:noFill/>
        </p:spPr>
        <p:txBody>
          <a:bodyPr wrap="square" lIns="36576" rIns="36576" tIns="27432" bIns="27432" anchor="t">
            <a:spAutoFit/>
          </a:bodyPr>
          <a:lstStyle/>
          <a:p>
            <a:pPr algn="l">
              <a:spcAft>
                <a:spcPts val="200"/>
              </a:spcAft>
              <a:buNone/>
            </a:pPr>
            <a:r>
              <a:rPr sz="1200">
                <a:solidFill>
                  <a:srgbClr val="202124"/>
                </a:solidFill>
                <a:latin typeface="Google Sans Flex Medium"/>
                <a:ea typeface="Google Sans Flex Medium"/>
                <a:cs typeface="Google Sans Flex Medium"/>
                <a:sym typeface="Google Sans Flex Medium"/>
              </a:rPr>
              <a:t>c. Problem Statement</a:t>
            </a:r>
          </a:p>
          <a:p>
            <a:pPr algn="l">
              <a:spcAft>
                <a:spcPts val="400"/>
              </a:spcAft>
              <a:buNone/>
            </a:pPr>
            <a:r>
              <a:rPr sz="1200">
                <a:solidFill>
                  <a:srgbClr val="1A73E8"/>
                </a:solidFill>
                <a:latin typeface="Google Sans Flex SemiBold"/>
                <a:ea typeface="Google Sans Flex SemiBold"/>
                <a:cs typeface="Google Sans Flex SemiBold"/>
                <a:sym typeface="Google Sans Flex SemiBold"/>
              </a:rPr>
              <a:t>Retail &amp; Commerce – consumer intelligence</a:t>
            </a:r>
          </a:p>
          <a:p>
            <a:pPr algn="l">
              <a:spcAft>
                <a:spcPts val="0"/>
              </a:spcAft>
              <a:buNone/>
            </a:pPr>
            <a:r>
              <a:rPr sz="1200">
                <a:solidFill>
                  <a:srgbClr val="202124"/>
                </a:solidFill>
                <a:latin typeface="Google Sans Flex"/>
                <a:ea typeface="Google Sans Flex"/>
                <a:cs typeface="Google Sans Flex"/>
                <a:sym typeface="Google Sans Flex"/>
              </a:rPr>
              <a:t>Retail and e-commerce brands talk to customers all day, in support calls, sales calls, WhatsApp and chat, but listen to almost none of it. Teams read a small sample by hand, so why customers buy, return, complain or churn, which products they ask for, and how agents handle them stays buried in transcripts and recordings. aftercall turns every conversation into structured consumer intelligence that teams act on once the call is done.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274320" y="1280160"/>
            <a:ext cx="5029200" cy="274320"/>
          </a:xfrm>
          <a:prstGeom prst="rect">
            <a:avLst/>
          </a:prstGeom>
          <a:noFill/>
        </p:spPr>
        <p:txBody>
          <a:bodyPr wrap="square" lIns="36576" rIns="36576" tIns="27432" bIns="27432" anchor="t">
            <a:spAutoFit/>
          </a:bodyPr>
          <a:lstStyle/>
          <a:p>
            <a:pPr algn="l">
              <a:spcAft>
                <a:spcPts val="0"/>
              </a:spcAft>
              <a:buNone/>
            </a:pPr>
            <a:r>
              <a:rPr sz="1500">
                <a:solidFill>
                  <a:srgbClr val="1A73E8"/>
                </a:solidFill>
                <a:latin typeface="Google Sans Flex SemiBold"/>
                <a:ea typeface="Google Sans Flex SemiBold"/>
                <a:cs typeface="Google Sans Flex SemiBold"/>
                <a:sym typeface="Google Sans Flex SemiBold"/>
              </a:rPr>
              <a:t>aftercall asks every conversation the same questions</a:t>
            </a:r>
          </a:p>
        </p:txBody>
      </p:sp>
      <p:sp>
        <p:nvSpPr>
          <p:cNvPr id="73" name="TextBox 72"/>
          <p:cNvSpPr txBox="1"/>
          <p:nvPr/>
        </p:nvSpPr>
        <p:spPr>
          <a:xfrm>
            <a:off x="274320" y="1627632"/>
            <a:ext cx="5029200" cy="1783080"/>
          </a:xfrm>
          <a:prstGeom prst="rect">
            <a:avLst/>
          </a:prstGeom>
          <a:noFill/>
        </p:spPr>
        <p:txBody>
          <a:bodyPr wrap="square" lIns="36576" rIns="36576" tIns="27432" bIns="27432" anchor="t">
            <a:spAutoFit/>
          </a:bodyPr>
          <a:lstStyle/>
          <a:p>
            <a:pPr algn="l" marL="182880" indent="-182880">
              <a:spcAft>
                <a:spcPts val="400"/>
              </a:spcAft>
              <a:buFont typeface="Arial"/>
              <a:buChar char="•"/>
            </a:pPr>
            <a:r>
              <a:rPr sz="1200">
                <a:solidFill>
                  <a:srgbClr val="202124"/>
                </a:solidFill>
                <a:latin typeface="Google Sans Flex"/>
                <a:ea typeface="Google Sans Flex"/>
                <a:cs typeface="Google Sans Flex"/>
                <a:sym typeface="Google Sans Flex"/>
              </a:rPr>
              <a:t>You define trackers: groups of signals, each a Choice, a Yes/No or a Score.</a:t>
            </a:r>
          </a:p>
          <a:p>
            <a:pPr algn="l" marL="182880" indent="-182880">
              <a:spcAft>
                <a:spcPts val="400"/>
              </a:spcAft>
              <a:buFont typeface="Arial"/>
              <a:buChar char="•"/>
            </a:pPr>
            <a:r>
              <a:rPr sz="1200">
                <a:solidFill>
                  <a:srgbClr val="202124"/>
                </a:solidFill>
                <a:latin typeface="Google Sans Flex"/>
                <a:ea typeface="Google Sans Flex"/>
                <a:cs typeface="Google Sans Flex"/>
                <a:sym typeface="Google Sans Flex"/>
              </a:rPr>
              <a:t>Upload transcripts (CSV, JSON, JSONL, TXT, VTT, SRT, any layout) or call recordings (mp3, wav, m4a, ogg, webm, flac, up to 30 MB).</a:t>
            </a:r>
          </a:p>
          <a:p>
            <a:pPr algn="l" marL="182880" indent="-182880">
              <a:spcAft>
                <a:spcPts val="400"/>
              </a:spcAft>
              <a:buFont typeface="Arial"/>
              <a:buChar char="•"/>
            </a:pPr>
            <a:r>
              <a:rPr sz="1200">
                <a:solidFill>
                  <a:srgbClr val="202124"/>
                </a:solidFill>
                <a:latin typeface="Google Sans Flex"/>
                <a:ea typeface="Google Sans Flex"/>
                <a:cs typeface="Google Sans Flex"/>
                <a:sym typeface="Google Sans Flex"/>
              </a:rPr>
              <a:t>TypeSafe Jev answers every signal on every call with a confidence score; low-confidence answers go to human review.</a:t>
            </a:r>
          </a:p>
          <a:p>
            <a:pPr algn="l" marL="182880" indent="-182880">
              <a:spcAft>
                <a:spcPts val="0"/>
              </a:spcAft>
              <a:buFont typeface="Arial"/>
              <a:buChar char="•"/>
            </a:pPr>
            <a:r>
              <a:rPr sz="1200">
                <a:solidFill>
                  <a:srgbClr val="202124"/>
                </a:solidFill>
                <a:latin typeface="Google Sans Flex"/>
                <a:ea typeface="Google Sans Flex"/>
                <a:cs typeface="Google Sans Flex"/>
                <a:sym typeface="Google Sans Flex"/>
              </a:rPr>
              <a:t>Ask alteria (Gemini) answers questions across all analysed calls, with cited calls.</a:t>
            </a:r>
          </a:p>
        </p:txBody>
      </p:sp>
      <p:sp>
        <p:nvSpPr>
          <p:cNvPr id="74" name="Rounded Rectangle 73"/>
          <p:cNvSpPr/>
          <p:nvPr/>
        </p:nvSpPr>
        <p:spPr>
          <a:xfrm>
            <a:off x="5577840" y="1280160"/>
            <a:ext cx="3291840" cy="219456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715000" y="1325880"/>
            <a:ext cx="3017520" cy="274320"/>
          </a:xfrm>
          <a:prstGeom prst="rect">
            <a:avLst/>
          </a:prstGeom>
          <a:noFill/>
        </p:spPr>
        <p:txBody>
          <a:bodyPr wrap="square" lIns="36576" rIns="36576" tIns="27432" bIns="27432" anchor="t">
            <a:spAutoFit/>
          </a:bodyPr>
          <a:lstStyle/>
          <a:p>
            <a:pPr algn="l">
              <a:spcAft>
                <a:spcPts val="0"/>
              </a:spcAft>
              <a:buNone/>
            </a:pPr>
            <a:r>
              <a:rPr sz="1300">
                <a:solidFill>
                  <a:srgbClr val="202124"/>
                </a:solidFill>
                <a:latin typeface="Google Sans Flex SemiBold"/>
                <a:ea typeface="Google Sans Flex SemiBold"/>
                <a:cs typeface="Google Sans Flex SemiBold"/>
                <a:sym typeface="Google Sans Flex SemiBold"/>
              </a:rPr>
              <a:t>Who it's for</a:t>
            </a:r>
          </a:p>
        </p:txBody>
      </p:sp>
      <p:sp>
        <p:nvSpPr>
          <p:cNvPr id="76" name="Oval 75"/>
          <p:cNvSpPr/>
          <p:nvPr/>
        </p:nvSpPr>
        <p:spPr>
          <a:xfrm>
            <a:off x="5715000" y="1691640"/>
            <a:ext cx="237744" cy="23774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000">
                <a:solidFill>
                  <a:srgbClr val="FFFFFF"/>
                </a:solidFill>
                <a:latin typeface="Google Sans Flex SemiBold"/>
                <a:ea typeface="Google Sans Flex SemiBold"/>
                <a:cs typeface="Google Sans Flex SemiBold"/>
                <a:sym typeface="Google Sans Flex SemiBold"/>
              </a:rPr>
              <a:t>1</a:t>
            </a:r>
          </a:p>
        </p:txBody>
      </p:sp>
      <p:sp>
        <p:nvSpPr>
          <p:cNvPr id="77" name="TextBox 76"/>
          <p:cNvSpPr txBox="1"/>
          <p:nvPr/>
        </p:nvSpPr>
        <p:spPr>
          <a:xfrm>
            <a:off x="6035040" y="1673352"/>
            <a:ext cx="2743200" cy="274320"/>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a:ea typeface="Google Sans Flex"/>
                <a:cs typeface="Google Sans Flex"/>
                <a:sym typeface="Google Sans Flex"/>
              </a:rPr>
              <a:t>D2C and e-commerce brands</a:t>
            </a:r>
          </a:p>
        </p:txBody>
      </p:sp>
      <p:sp>
        <p:nvSpPr>
          <p:cNvPr id="78" name="Oval 77"/>
          <p:cNvSpPr/>
          <p:nvPr/>
        </p:nvSpPr>
        <p:spPr>
          <a:xfrm>
            <a:off x="5715000" y="2029968"/>
            <a:ext cx="237744" cy="23774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000">
                <a:solidFill>
                  <a:srgbClr val="FFFFFF"/>
                </a:solidFill>
                <a:latin typeface="Google Sans Flex SemiBold"/>
                <a:ea typeface="Google Sans Flex SemiBold"/>
                <a:cs typeface="Google Sans Flex SemiBold"/>
                <a:sym typeface="Google Sans Flex SemiBold"/>
              </a:rPr>
              <a:t>2</a:t>
            </a:r>
          </a:p>
        </p:txBody>
      </p:sp>
      <p:sp>
        <p:nvSpPr>
          <p:cNvPr id="79" name="TextBox 78"/>
          <p:cNvSpPr txBox="1"/>
          <p:nvPr/>
        </p:nvSpPr>
        <p:spPr>
          <a:xfrm>
            <a:off x="6035040" y="2011680"/>
            <a:ext cx="2743200" cy="274320"/>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a:ea typeface="Google Sans Flex"/>
                <a:cs typeface="Google Sans Flex"/>
                <a:sym typeface="Google Sans Flex"/>
              </a:rPr>
              <a:t>Marketplaces</a:t>
            </a:r>
          </a:p>
        </p:txBody>
      </p:sp>
      <p:sp>
        <p:nvSpPr>
          <p:cNvPr id="80" name="Oval 79"/>
          <p:cNvSpPr/>
          <p:nvPr/>
        </p:nvSpPr>
        <p:spPr>
          <a:xfrm>
            <a:off x="5715000" y="2368296"/>
            <a:ext cx="237744" cy="23774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000">
                <a:solidFill>
                  <a:srgbClr val="FFFFFF"/>
                </a:solidFill>
                <a:latin typeface="Google Sans Flex SemiBold"/>
                <a:ea typeface="Google Sans Flex SemiBold"/>
                <a:cs typeface="Google Sans Flex SemiBold"/>
                <a:sym typeface="Google Sans Flex SemiBold"/>
              </a:rPr>
              <a:t>3</a:t>
            </a:r>
          </a:p>
        </p:txBody>
      </p:sp>
      <p:sp>
        <p:nvSpPr>
          <p:cNvPr id="81" name="TextBox 80"/>
          <p:cNvSpPr txBox="1"/>
          <p:nvPr/>
        </p:nvSpPr>
        <p:spPr>
          <a:xfrm>
            <a:off x="6035040" y="2350008"/>
            <a:ext cx="2743200" cy="274320"/>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a:ea typeface="Google Sans Flex"/>
                <a:cs typeface="Google Sans Flex"/>
                <a:sym typeface="Google Sans Flex"/>
              </a:rPr>
              <a:t>Retail chains</a:t>
            </a:r>
          </a:p>
        </p:txBody>
      </p:sp>
      <p:sp>
        <p:nvSpPr>
          <p:cNvPr id="82" name="Oval 81"/>
          <p:cNvSpPr/>
          <p:nvPr/>
        </p:nvSpPr>
        <p:spPr>
          <a:xfrm>
            <a:off x="5715000" y="2706624"/>
            <a:ext cx="237744" cy="23774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000">
                <a:solidFill>
                  <a:srgbClr val="FFFFFF"/>
                </a:solidFill>
                <a:latin typeface="Google Sans Flex SemiBold"/>
                <a:ea typeface="Google Sans Flex SemiBold"/>
                <a:cs typeface="Google Sans Flex SemiBold"/>
                <a:sym typeface="Google Sans Flex SemiBold"/>
              </a:rPr>
              <a:t>4</a:t>
            </a:r>
          </a:p>
        </p:txBody>
      </p:sp>
      <p:sp>
        <p:nvSpPr>
          <p:cNvPr id="83" name="TextBox 82"/>
          <p:cNvSpPr txBox="1"/>
          <p:nvPr/>
        </p:nvSpPr>
        <p:spPr>
          <a:xfrm>
            <a:off x="6035040" y="2688336"/>
            <a:ext cx="2743200" cy="274320"/>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a:ea typeface="Google Sans Flex"/>
                <a:cs typeface="Google Sans Flex"/>
                <a:sym typeface="Google Sans Flex"/>
              </a:rPr>
              <a:t>Quick-commerce support teams</a:t>
            </a:r>
          </a:p>
        </p:txBody>
      </p:sp>
      <p:sp>
        <p:nvSpPr>
          <p:cNvPr id="84" name="Oval 83"/>
          <p:cNvSpPr/>
          <p:nvPr/>
        </p:nvSpPr>
        <p:spPr>
          <a:xfrm>
            <a:off x="5715000" y="3044952"/>
            <a:ext cx="237744" cy="23774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000">
                <a:solidFill>
                  <a:srgbClr val="FFFFFF"/>
                </a:solidFill>
                <a:latin typeface="Google Sans Flex SemiBold"/>
                <a:ea typeface="Google Sans Flex SemiBold"/>
                <a:cs typeface="Google Sans Flex SemiBold"/>
                <a:sym typeface="Google Sans Flex SemiBold"/>
              </a:rPr>
              <a:t>5</a:t>
            </a:r>
          </a:p>
        </p:txBody>
      </p:sp>
      <p:sp>
        <p:nvSpPr>
          <p:cNvPr id="85" name="TextBox 84"/>
          <p:cNvSpPr txBox="1"/>
          <p:nvPr/>
        </p:nvSpPr>
        <p:spPr>
          <a:xfrm>
            <a:off x="6035040" y="3026664"/>
            <a:ext cx="2743200" cy="274320"/>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a:ea typeface="Google Sans Flex"/>
                <a:cs typeface="Google Sans Flex"/>
                <a:sym typeface="Google Sans Flex"/>
              </a:rPr>
              <a:t>AI voice agents for retail</a:t>
            </a:r>
          </a:p>
        </p:txBody>
      </p:sp>
      <p:sp>
        <p:nvSpPr>
          <p:cNvPr id="86" name="Rounded Rectangle 85"/>
          <p:cNvSpPr/>
          <p:nvPr/>
        </p:nvSpPr>
        <p:spPr>
          <a:xfrm>
            <a:off x="274320" y="3657600"/>
            <a:ext cx="2743200" cy="10972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84048" y="3730752"/>
            <a:ext cx="2523744" cy="457200"/>
          </a:xfrm>
          <a:prstGeom prst="rect">
            <a:avLst/>
          </a:prstGeom>
          <a:noFill/>
        </p:spPr>
        <p:txBody>
          <a:bodyPr wrap="square" lIns="36576" rIns="36576" tIns="27432" bIns="27432" anchor="ctr">
            <a:spAutoFit/>
          </a:bodyPr>
          <a:lstStyle/>
          <a:p>
            <a:pPr algn="l">
              <a:spcAft>
                <a:spcPts val="0"/>
              </a:spcAft>
              <a:buNone/>
            </a:pPr>
            <a:r>
              <a:rPr sz="1700">
                <a:solidFill>
                  <a:srgbClr val="1A73E8"/>
                </a:solidFill>
                <a:latin typeface="Google Sans Flex SemiBold"/>
                <a:ea typeface="Google Sans Flex SemiBold"/>
                <a:cs typeface="Google Sans Flex SemiBold"/>
                <a:sym typeface="Google Sans Flex SemiBold"/>
              </a:rPr>
              <a:t>100%</a:t>
            </a:r>
          </a:p>
        </p:txBody>
      </p:sp>
      <p:sp>
        <p:nvSpPr>
          <p:cNvPr id="88" name="TextBox 87"/>
          <p:cNvSpPr txBox="1"/>
          <p:nvPr/>
        </p:nvSpPr>
        <p:spPr>
          <a:xfrm>
            <a:off x="384048" y="4224528"/>
            <a:ext cx="2523744" cy="457200"/>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of conversations read, not a sample</a:t>
            </a:r>
          </a:p>
        </p:txBody>
      </p:sp>
      <p:sp>
        <p:nvSpPr>
          <p:cNvPr id="89" name="Rounded Rectangle 88"/>
          <p:cNvSpPr/>
          <p:nvPr/>
        </p:nvSpPr>
        <p:spPr>
          <a:xfrm>
            <a:off x="3200400" y="3657600"/>
            <a:ext cx="2743200" cy="109728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310128" y="3730752"/>
            <a:ext cx="2523744" cy="457200"/>
          </a:xfrm>
          <a:prstGeom prst="rect">
            <a:avLst/>
          </a:prstGeom>
          <a:noFill/>
        </p:spPr>
        <p:txBody>
          <a:bodyPr wrap="square" lIns="36576" rIns="36576" tIns="27432" bIns="27432" anchor="ctr">
            <a:spAutoFit/>
          </a:bodyPr>
          <a:lstStyle/>
          <a:p>
            <a:pPr algn="l">
              <a:spcAft>
                <a:spcPts val="0"/>
              </a:spcAft>
              <a:buNone/>
            </a:pPr>
            <a:r>
              <a:rPr sz="1700">
                <a:solidFill>
                  <a:srgbClr val="188038"/>
                </a:solidFill>
                <a:latin typeface="Google Sans Flex SemiBold"/>
                <a:ea typeface="Google Sans Flex SemiBold"/>
                <a:cs typeface="Google Sans Flex SemiBold"/>
                <a:sym typeface="Google Sans Flex SemiBold"/>
              </a:rPr>
              <a:t>Any tool</a:t>
            </a:r>
          </a:p>
        </p:txBody>
      </p:sp>
      <p:sp>
        <p:nvSpPr>
          <p:cNvPr id="91" name="TextBox 90"/>
          <p:cNvSpPr txBox="1"/>
          <p:nvPr/>
        </p:nvSpPr>
        <p:spPr>
          <a:xfrm>
            <a:off x="3310128" y="4224528"/>
            <a:ext cx="2523744" cy="457200"/>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not tied to a call or chat product</a:t>
            </a:r>
          </a:p>
        </p:txBody>
      </p:sp>
      <p:sp>
        <p:nvSpPr>
          <p:cNvPr id="92" name="Rounded Rectangle 91"/>
          <p:cNvSpPr/>
          <p:nvPr/>
        </p:nvSpPr>
        <p:spPr>
          <a:xfrm>
            <a:off x="6126480" y="3657600"/>
            <a:ext cx="2743200" cy="109728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236208" y="3730752"/>
            <a:ext cx="2523744" cy="457200"/>
          </a:xfrm>
          <a:prstGeom prst="rect">
            <a:avLst/>
          </a:prstGeom>
          <a:noFill/>
        </p:spPr>
        <p:txBody>
          <a:bodyPr wrap="square" lIns="36576" rIns="36576" tIns="27432" bIns="27432" anchor="ctr">
            <a:spAutoFit/>
          </a:bodyPr>
          <a:lstStyle/>
          <a:p>
            <a:pPr algn="l">
              <a:spcAft>
                <a:spcPts val="0"/>
              </a:spcAft>
              <a:buNone/>
            </a:pPr>
            <a:r>
              <a:rPr sz="1400">
                <a:solidFill>
                  <a:srgbClr val="B06000"/>
                </a:solidFill>
                <a:latin typeface="Google Sans Flex SemiBold"/>
                <a:ea typeface="Google Sans Flex SemiBold"/>
                <a:cs typeface="Google Sans Flex SemiBold"/>
                <a:sym typeface="Google Sans Flex SemiBold"/>
              </a:rPr>
              <a:t>Hindi · Hinglish · English</a:t>
            </a:r>
          </a:p>
        </p:txBody>
      </p:sp>
      <p:sp>
        <p:nvSpPr>
          <p:cNvPr id="94" name="TextBox 93"/>
          <p:cNvSpPr txBox="1"/>
          <p:nvPr/>
        </p:nvSpPr>
        <p:spPr>
          <a:xfrm>
            <a:off x="6236208" y="4224528"/>
            <a:ext cx="2523744" cy="457200"/>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transcribed in the original language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274320" y="1280160"/>
            <a:ext cx="2743200" cy="283464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411479" y="1389888"/>
            <a:ext cx="310896" cy="31089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1</a:t>
            </a:r>
          </a:p>
        </p:txBody>
      </p:sp>
      <p:sp>
        <p:nvSpPr>
          <p:cNvPr id="82" name="TextBox 81"/>
          <p:cNvSpPr txBox="1"/>
          <p:nvPr/>
        </p:nvSpPr>
        <p:spPr>
          <a:xfrm>
            <a:off x="804671" y="1371600"/>
            <a:ext cx="2148840" cy="365760"/>
          </a:xfrm>
          <a:prstGeom prst="rect">
            <a:avLst/>
          </a:prstGeom>
          <a:noFill/>
        </p:spPr>
        <p:txBody>
          <a:bodyPr wrap="square" lIns="36576" rIns="36576" tIns="27432" bIns="27432" anchor="ctr">
            <a:spAutoFit/>
          </a:bodyPr>
          <a:lstStyle/>
          <a:p>
            <a:pPr algn="l">
              <a:spcAft>
                <a:spcPts val="0"/>
              </a:spcAft>
              <a:buNone/>
            </a:pPr>
            <a:r>
              <a:rPr sz="1300">
                <a:solidFill>
                  <a:srgbClr val="202124"/>
                </a:solidFill>
                <a:latin typeface="Google Sans Flex SemiBold"/>
                <a:ea typeface="Google Sans Flex SemiBold"/>
                <a:cs typeface="Google Sans Flex SemiBold"/>
                <a:sym typeface="Google Sans Flex SemiBold"/>
              </a:rPr>
              <a:t>How is it different?</a:t>
            </a:r>
          </a:p>
        </p:txBody>
      </p:sp>
      <p:sp>
        <p:nvSpPr>
          <p:cNvPr id="83" name="TextBox 82"/>
          <p:cNvSpPr txBox="1"/>
          <p:nvPr/>
        </p:nvSpPr>
        <p:spPr>
          <a:xfrm>
            <a:off x="384048" y="1828800"/>
            <a:ext cx="2542032" cy="2240280"/>
          </a:xfrm>
          <a:prstGeom prst="rect">
            <a:avLst/>
          </a:prstGeom>
          <a:noFill/>
        </p:spPr>
        <p:txBody>
          <a:bodyPr wrap="square" lIns="36576" rIns="36576" tIns="27432" bIns="27432" anchor="t">
            <a:spAutoFit/>
          </a:bodyPr>
          <a:lstStyle/>
          <a:p>
            <a:pPr algn="l" marL="182880" indent="-182880">
              <a:spcAft>
                <a:spcPts val="500"/>
              </a:spcAft>
              <a:buFont typeface="Arial"/>
              <a:buChar char="•"/>
            </a:pPr>
            <a:r>
              <a:rPr sz="1200">
                <a:solidFill>
                  <a:srgbClr val="202124"/>
                </a:solidFill>
                <a:latin typeface="Google Sans Flex"/>
                <a:ea typeface="Google Sans Flex"/>
                <a:cs typeface="Google Sans Flex"/>
                <a:sym typeface="Google Sans Flex"/>
              </a:rPr>
              <a:t>Works on transcripts and recordings from any tool; no call platform to adopt</a:t>
            </a:r>
          </a:p>
          <a:p>
            <a:pPr algn="l" marL="182880" indent="-182880">
              <a:spcAft>
                <a:spcPts val="500"/>
              </a:spcAft>
              <a:buFont typeface="Arial"/>
              <a:buChar char="•"/>
            </a:pPr>
            <a:r>
              <a:rPr sz="1200">
                <a:solidFill>
                  <a:srgbClr val="202124"/>
                </a:solidFill>
                <a:latin typeface="Google Sans Flex"/>
                <a:ea typeface="Google Sans Flex"/>
                <a:cs typeface="Google Sans Flex"/>
                <a:sym typeface="Google Sans Flex"/>
              </a:rPr>
              <a:t>You write the questions; there is no fixed taxonomy</a:t>
            </a:r>
          </a:p>
          <a:p>
            <a:pPr algn="l" marL="182880" indent="-182880">
              <a:spcAft>
                <a:spcPts val="500"/>
              </a:spcAft>
              <a:buFont typeface="Arial"/>
              <a:buChar char="•"/>
            </a:pPr>
            <a:r>
              <a:rPr sz="1200">
                <a:solidFill>
                  <a:srgbClr val="202124"/>
                </a:solidFill>
                <a:latin typeface="Google Sans Flex"/>
                <a:ea typeface="Google Sans Flex"/>
                <a:cs typeface="Google Sans Flex"/>
                <a:sym typeface="Google Sans Flex"/>
              </a:rPr>
              <a:t>A confidence score on every answer, not a black-box summary</a:t>
            </a:r>
          </a:p>
        </p:txBody>
      </p:sp>
      <p:sp>
        <p:nvSpPr>
          <p:cNvPr id="84" name="Rounded Rectangle 83"/>
          <p:cNvSpPr/>
          <p:nvPr/>
        </p:nvSpPr>
        <p:spPr>
          <a:xfrm>
            <a:off x="3200400" y="1280160"/>
            <a:ext cx="2743200" cy="283464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337560" y="1389888"/>
            <a:ext cx="310896" cy="310896"/>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2</a:t>
            </a:r>
          </a:p>
        </p:txBody>
      </p:sp>
      <p:sp>
        <p:nvSpPr>
          <p:cNvPr id="86" name="TextBox 85"/>
          <p:cNvSpPr txBox="1"/>
          <p:nvPr/>
        </p:nvSpPr>
        <p:spPr>
          <a:xfrm>
            <a:off x="3730752" y="1371600"/>
            <a:ext cx="2148840" cy="365760"/>
          </a:xfrm>
          <a:prstGeom prst="rect">
            <a:avLst/>
          </a:prstGeom>
          <a:noFill/>
        </p:spPr>
        <p:txBody>
          <a:bodyPr wrap="square" lIns="36576" rIns="36576" tIns="27432" bIns="27432" anchor="ctr">
            <a:spAutoFit/>
          </a:bodyPr>
          <a:lstStyle/>
          <a:p>
            <a:pPr algn="l">
              <a:spcAft>
                <a:spcPts val="0"/>
              </a:spcAft>
              <a:buNone/>
            </a:pPr>
            <a:r>
              <a:rPr sz="1300">
                <a:solidFill>
                  <a:srgbClr val="202124"/>
                </a:solidFill>
                <a:latin typeface="Google Sans Flex SemiBold"/>
                <a:ea typeface="Google Sans Flex SemiBold"/>
                <a:cs typeface="Google Sans Flex SemiBold"/>
                <a:sym typeface="Google Sans Flex SemiBold"/>
              </a:rPr>
              <a:t>How does it solve the problem?</a:t>
            </a:r>
          </a:p>
        </p:txBody>
      </p:sp>
      <p:sp>
        <p:nvSpPr>
          <p:cNvPr id="87" name="TextBox 86"/>
          <p:cNvSpPr txBox="1"/>
          <p:nvPr/>
        </p:nvSpPr>
        <p:spPr>
          <a:xfrm>
            <a:off x="3310128" y="1828800"/>
            <a:ext cx="2542032" cy="2240280"/>
          </a:xfrm>
          <a:prstGeom prst="rect">
            <a:avLst/>
          </a:prstGeom>
          <a:noFill/>
        </p:spPr>
        <p:txBody>
          <a:bodyPr wrap="square" lIns="36576" rIns="36576" tIns="27432" bIns="27432" anchor="t">
            <a:spAutoFit/>
          </a:bodyPr>
          <a:lstStyle/>
          <a:p>
            <a:pPr algn="l" marL="182880" indent="-182880">
              <a:spcAft>
                <a:spcPts val="500"/>
              </a:spcAft>
              <a:buFont typeface="Arial"/>
              <a:buChar char="•"/>
            </a:pPr>
            <a:r>
              <a:rPr sz="1200">
                <a:solidFill>
                  <a:srgbClr val="202124"/>
                </a:solidFill>
                <a:latin typeface="Google Sans Flex"/>
                <a:ea typeface="Google Sans Flex"/>
                <a:cs typeface="Google Sans Flex"/>
                <a:sym typeface="Google Sans Flex"/>
              </a:rPr>
              <a:t>Reads 100% of conversations instead of a hand-read sample</a:t>
            </a:r>
          </a:p>
          <a:p>
            <a:pPr algn="l" marL="182880" indent="-182880">
              <a:spcAft>
                <a:spcPts val="500"/>
              </a:spcAft>
              <a:buFont typeface="Arial"/>
              <a:buChar char="•"/>
            </a:pPr>
            <a:r>
              <a:rPr sz="1200">
                <a:solidFill>
                  <a:srgbClr val="202124"/>
                </a:solidFill>
                <a:latin typeface="Google Sans Flex"/>
                <a:ea typeface="Google Sans Flex"/>
                <a:cs typeface="Google Sans Flex"/>
                <a:sym typeface="Google Sans Flex"/>
              </a:rPr>
              <a:t>Structured answers show trends by channel, agent or campaign</a:t>
            </a:r>
          </a:p>
          <a:p>
            <a:pPr algn="l" marL="182880" indent="-182880">
              <a:spcAft>
                <a:spcPts val="500"/>
              </a:spcAft>
              <a:buFont typeface="Arial"/>
              <a:buChar char="•"/>
            </a:pPr>
            <a:r>
              <a:rPr sz="1200">
                <a:solidFill>
                  <a:srgbClr val="202124"/>
                </a:solidFill>
                <a:latin typeface="Google Sans Flex"/>
                <a:ea typeface="Google Sans Flex"/>
                <a:cs typeface="Google Sans Flex"/>
                <a:sym typeface="Google Sans Flex"/>
              </a:rPr>
              <a:t>Low-confidence answers go to people; Ask alteria explains the why with cited calls</a:t>
            </a:r>
          </a:p>
        </p:txBody>
      </p:sp>
      <p:sp>
        <p:nvSpPr>
          <p:cNvPr id="88" name="Rounded Rectangle 87"/>
          <p:cNvSpPr/>
          <p:nvPr/>
        </p:nvSpPr>
        <p:spPr>
          <a:xfrm>
            <a:off x="6126480" y="1280160"/>
            <a:ext cx="2743200" cy="283464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6263640" y="1389888"/>
            <a:ext cx="310896" cy="310896"/>
          </a:xfrm>
          <a:prstGeom prst="ellipse">
            <a:avLst/>
          </a:prstGeom>
          <a:solidFill>
            <a:srgbClr val="B06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3</a:t>
            </a:r>
          </a:p>
        </p:txBody>
      </p:sp>
      <p:sp>
        <p:nvSpPr>
          <p:cNvPr id="90" name="TextBox 89"/>
          <p:cNvSpPr txBox="1"/>
          <p:nvPr/>
        </p:nvSpPr>
        <p:spPr>
          <a:xfrm>
            <a:off x="6656832" y="1371600"/>
            <a:ext cx="2148840" cy="365760"/>
          </a:xfrm>
          <a:prstGeom prst="rect">
            <a:avLst/>
          </a:prstGeom>
          <a:noFill/>
        </p:spPr>
        <p:txBody>
          <a:bodyPr wrap="square" lIns="36576" rIns="36576" tIns="27432" bIns="27432" anchor="ctr">
            <a:spAutoFit/>
          </a:bodyPr>
          <a:lstStyle/>
          <a:p>
            <a:pPr algn="l">
              <a:spcAft>
                <a:spcPts val="0"/>
              </a:spcAft>
              <a:buNone/>
            </a:pPr>
            <a:r>
              <a:rPr sz="1300">
                <a:solidFill>
                  <a:srgbClr val="202124"/>
                </a:solidFill>
                <a:latin typeface="Google Sans Flex SemiBold"/>
                <a:ea typeface="Google Sans Flex SemiBold"/>
                <a:cs typeface="Google Sans Flex SemiBold"/>
                <a:sym typeface="Google Sans Flex SemiBold"/>
              </a:rPr>
              <a:t>USP</a:t>
            </a:r>
          </a:p>
        </p:txBody>
      </p:sp>
      <p:sp>
        <p:nvSpPr>
          <p:cNvPr id="91" name="TextBox 90"/>
          <p:cNvSpPr txBox="1"/>
          <p:nvPr/>
        </p:nvSpPr>
        <p:spPr>
          <a:xfrm>
            <a:off x="6236208" y="1828800"/>
            <a:ext cx="2542032" cy="2240280"/>
          </a:xfrm>
          <a:prstGeom prst="rect">
            <a:avLst/>
          </a:prstGeom>
          <a:noFill/>
        </p:spPr>
        <p:txBody>
          <a:bodyPr wrap="square" lIns="36576" rIns="36576" tIns="27432" bIns="27432" anchor="t">
            <a:spAutoFit/>
          </a:bodyPr>
          <a:lstStyle/>
          <a:p>
            <a:pPr algn="l" marL="182880" indent="-182880">
              <a:spcAft>
                <a:spcPts val="500"/>
              </a:spcAft>
              <a:buFont typeface="Arial"/>
              <a:buChar char="•"/>
            </a:pPr>
            <a:r>
              <a:rPr sz="1200">
                <a:solidFill>
                  <a:srgbClr val="202124"/>
                </a:solidFill>
                <a:latin typeface="Google Sans Flex"/>
                <a:ea typeface="Google Sans Flex"/>
                <a:cs typeface="Google Sans Flex"/>
                <a:sym typeface="Google Sans Flex"/>
              </a:rPr>
              <a:t>The same questions on every call, at a fraction of an LLM's cost</a:t>
            </a:r>
          </a:p>
          <a:p>
            <a:pPr algn="l" marL="182880" indent="-182880">
              <a:spcAft>
                <a:spcPts val="500"/>
              </a:spcAft>
              <a:buFont typeface="Arial"/>
              <a:buChar char="•"/>
            </a:pPr>
            <a:r>
              <a:rPr sz="1200">
                <a:solidFill>
                  <a:srgbClr val="202124"/>
                </a:solidFill>
                <a:latin typeface="Google Sans Flex"/>
                <a:ea typeface="Google Sans Flex"/>
                <a:cs typeface="Google Sans Flex"/>
                <a:sym typeface="Google Sans Flex"/>
              </a:rPr>
              <a:t>Jev routes each request to the cheapest Gemini tier that is enough</a:t>
            </a:r>
          </a:p>
          <a:p>
            <a:pPr algn="l" marL="182880" indent="-182880">
              <a:spcAft>
                <a:spcPts val="500"/>
              </a:spcAft>
              <a:buFont typeface="Arial"/>
              <a:buChar char="•"/>
            </a:pPr>
            <a:r>
              <a:rPr sz="1200">
                <a:solidFill>
                  <a:srgbClr val="202124"/>
                </a:solidFill>
                <a:latin typeface="Google Sans Flex"/>
                <a:ea typeface="Google Sans Flex"/>
                <a:cs typeface="Google Sans Flex"/>
                <a:sym typeface="Google Sans Flex"/>
              </a:rPr>
              <a:t>Cost is shown before anything runs; over-limit calls are flagged, not run</a:t>
            </a:r>
          </a:p>
        </p:txBody>
      </p:sp>
      <p:sp>
        <p:nvSpPr>
          <p:cNvPr id="92" name="Rounded Rectangle 91"/>
          <p:cNvSpPr/>
          <p:nvPr/>
        </p:nvSpPr>
        <p:spPr>
          <a:xfrm>
            <a:off x="274320" y="4297680"/>
            <a:ext cx="8595360" cy="457200"/>
          </a:xfrm>
          <a:prstGeom prst="roundRect">
            <a:avLst>
              <a:gd name="adj" fmla="val 6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400">
                <a:solidFill>
                  <a:srgbClr val="FFFFFF"/>
                </a:solidFill>
                <a:latin typeface="Google Sans Flex SemiBold"/>
                <a:ea typeface="Google Sans Flex SemiBold"/>
                <a:cs typeface="Google Sans Flex SemiBold"/>
                <a:sym typeface="Google Sans Flex SemiBold"/>
              </a:rPr>
              <a:t>You keep your conversations, we handle the rest.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274320" y="1280160"/>
            <a:ext cx="2743200" cy="1078992"/>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84048" y="138988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100">
                <a:solidFill>
                  <a:srgbClr val="FFFFFF"/>
                </a:solidFill>
                <a:latin typeface="Google Sans Flex SemiBold"/>
                <a:ea typeface="Google Sans Flex SemiBold"/>
                <a:cs typeface="Google Sans Flex SemiBold"/>
                <a:sym typeface="Google Sans Flex SemiBold"/>
              </a:rPr>
              <a:t>1</a:t>
            </a:r>
          </a:p>
        </p:txBody>
      </p:sp>
      <p:sp>
        <p:nvSpPr>
          <p:cNvPr id="90" name="TextBox 89"/>
          <p:cNvSpPr txBox="1"/>
          <p:nvPr/>
        </p:nvSpPr>
        <p:spPr>
          <a:xfrm>
            <a:off x="731520" y="1371600"/>
            <a:ext cx="2240280" cy="310896"/>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Trackers and signals</a:t>
            </a:r>
          </a:p>
        </p:txBody>
      </p:sp>
      <p:sp>
        <p:nvSpPr>
          <p:cNvPr id="91" name="TextBox 90"/>
          <p:cNvSpPr txBox="1"/>
          <p:nvPr/>
        </p:nvSpPr>
        <p:spPr>
          <a:xfrm>
            <a:off x="384048" y="1719072"/>
            <a:ext cx="2542032" cy="62179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Choice, Yes/No or Score questions, grouped by topic</a:t>
            </a:r>
          </a:p>
        </p:txBody>
      </p:sp>
      <p:sp>
        <p:nvSpPr>
          <p:cNvPr id="92" name="Rounded Rectangle 91"/>
          <p:cNvSpPr/>
          <p:nvPr/>
        </p:nvSpPr>
        <p:spPr>
          <a:xfrm>
            <a:off x="3200400" y="1280160"/>
            <a:ext cx="2743200" cy="1078992"/>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310128" y="138988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100">
                <a:solidFill>
                  <a:srgbClr val="FFFFFF"/>
                </a:solidFill>
                <a:latin typeface="Google Sans Flex SemiBold"/>
                <a:ea typeface="Google Sans Flex SemiBold"/>
                <a:cs typeface="Google Sans Flex SemiBold"/>
                <a:sym typeface="Google Sans Flex SemiBold"/>
              </a:rPr>
              <a:t>2</a:t>
            </a:r>
          </a:p>
        </p:txBody>
      </p:sp>
      <p:sp>
        <p:nvSpPr>
          <p:cNvPr id="94" name="TextBox 93"/>
          <p:cNvSpPr txBox="1"/>
          <p:nvPr/>
        </p:nvSpPr>
        <p:spPr>
          <a:xfrm>
            <a:off x="3657600" y="1371600"/>
            <a:ext cx="2240280" cy="310896"/>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Any transcript or recording</a:t>
            </a:r>
          </a:p>
        </p:txBody>
      </p:sp>
      <p:sp>
        <p:nvSpPr>
          <p:cNvPr id="95" name="TextBox 94"/>
          <p:cNvSpPr txBox="1"/>
          <p:nvPr/>
        </p:nvSpPr>
        <p:spPr>
          <a:xfrm>
            <a:off x="3310128" y="1719072"/>
            <a:ext cx="2542032" cy="62179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Any layout; Gemini transcribes audio with speakers labelled</a:t>
            </a:r>
          </a:p>
        </p:txBody>
      </p:sp>
      <p:sp>
        <p:nvSpPr>
          <p:cNvPr id="96" name="Rounded Rectangle 95"/>
          <p:cNvSpPr/>
          <p:nvPr/>
        </p:nvSpPr>
        <p:spPr>
          <a:xfrm>
            <a:off x="6126480" y="1280160"/>
            <a:ext cx="2743200" cy="1078992"/>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6236208" y="138988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100">
                <a:solidFill>
                  <a:srgbClr val="FFFFFF"/>
                </a:solidFill>
                <a:latin typeface="Google Sans Flex SemiBold"/>
                <a:ea typeface="Google Sans Flex SemiBold"/>
                <a:cs typeface="Google Sans Flex SemiBold"/>
                <a:sym typeface="Google Sans Flex SemiBold"/>
              </a:rPr>
              <a:t>3</a:t>
            </a:r>
          </a:p>
        </p:txBody>
      </p:sp>
      <p:sp>
        <p:nvSpPr>
          <p:cNvPr id="98" name="TextBox 97"/>
          <p:cNvSpPr txBox="1"/>
          <p:nvPr/>
        </p:nvSpPr>
        <p:spPr>
          <a:xfrm>
            <a:off x="6583680" y="1371600"/>
            <a:ext cx="2240280" cy="310896"/>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Jev answers + confidence</a:t>
            </a:r>
          </a:p>
        </p:txBody>
      </p:sp>
      <p:sp>
        <p:nvSpPr>
          <p:cNvPr id="99" name="TextBox 98"/>
          <p:cNvSpPr txBox="1"/>
          <p:nvPr/>
        </p:nvSpPr>
        <p:spPr>
          <a:xfrm>
            <a:off x="6236208" y="1719072"/>
            <a:ext cx="2542032" cy="62179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Every call, every signal; low confidence goes to review</a:t>
            </a:r>
          </a:p>
        </p:txBody>
      </p:sp>
      <p:sp>
        <p:nvSpPr>
          <p:cNvPr id="100" name="Rounded Rectangle 99"/>
          <p:cNvSpPr/>
          <p:nvPr/>
        </p:nvSpPr>
        <p:spPr>
          <a:xfrm>
            <a:off x="274320" y="2468880"/>
            <a:ext cx="2743200" cy="1078992"/>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84048" y="257860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100">
                <a:solidFill>
                  <a:srgbClr val="FFFFFF"/>
                </a:solidFill>
                <a:latin typeface="Google Sans Flex SemiBold"/>
                <a:ea typeface="Google Sans Flex SemiBold"/>
                <a:cs typeface="Google Sans Flex SemiBold"/>
                <a:sym typeface="Google Sans Flex SemiBold"/>
              </a:rPr>
              <a:t>4</a:t>
            </a:r>
          </a:p>
        </p:txBody>
      </p:sp>
      <p:sp>
        <p:nvSpPr>
          <p:cNvPr id="102" name="TextBox 101"/>
          <p:cNvSpPr txBox="1"/>
          <p:nvPr/>
        </p:nvSpPr>
        <p:spPr>
          <a:xfrm>
            <a:off x="731520" y="2560320"/>
            <a:ext cx="2240280" cy="310896"/>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Conditional trackers</a:t>
            </a:r>
          </a:p>
        </p:txBody>
      </p:sp>
      <p:sp>
        <p:nvSpPr>
          <p:cNvPr id="103" name="TextBox 102"/>
          <p:cNvSpPr txBox="1"/>
          <p:nvPr/>
        </p:nvSpPr>
        <p:spPr>
          <a:xfrm>
            <a:off x="384048" y="2907792"/>
            <a:ext cx="2542032" cy="62179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Run a tracker only if another answer matches</a:t>
            </a:r>
          </a:p>
        </p:txBody>
      </p:sp>
      <p:sp>
        <p:nvSpPr>
          <p:cNvPr id="104" name="Rounded Rectangle 103"/>
          <p:cNvSpPr/>
          <p:nvPr/>
        </p:nvSpPr>
        <p:spPr>
          <a:xfrm>
            <a:off x="3200400" y="2468880"/>
            <a:ext cx="2743200" cy="1078992"/>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310128" y="257860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100">
                <a:solidFill>
                  <a:srgbClr val="FFFFFF"/>
                </a:solidFill>
                <a:latin typeface="Google Sans Flex SemiBold"/>
                <a:ea typeface="Google Sans Flex SemiBold"/>
                <a:cs typeface="Google Sans Flex SemiBold"/>
                <a:sym typeface="Google Sans Flex SemiBold"/>
              </a:rPr>
              <a:t>5</a:t>
            </a:r>
          </a:p>
        </p:txBody>
      </p:sp>
      <p:sp>
        <p:nvSpPr>
          <p:cNvPr id="106" name="TextBox 105"/>
          <p:cNvSpPr txBox="1"/>
          <p:nvPr/>
        </p:nvSpPr>
        <p:spPr>
          <a:xfrm>
            <a:off x="3657600" y="2560320"/>
            <a:ext cx="2240280" cy="310896"/>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Insights across uploads</a:t>
            </a:r>
          </a:p>
        </p:txBody>
      </p:sp>
      <p:sp>
        <p:nvSpPr>
          <p:cNvPr id="107" name="TextBox 106"/>
          <p:cNvSpPr txBox="1"/>
          <p:nvPr/>
        </p:nvSpPr>
        <p:spPr>
          <a:xfrm>
            <a:off x="3310128" y="2907792"/>
            <a:ext cx="2542032" cy="62179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Trends, breakdowns by channel, agent or metadata, movers</a:t>
            </a:r>
          </a:p>
        </p:txBody>
      </p:sp>
      <p:sp>
        <p:nvSpPr>
          <p:cNvPr id="108" name="Rounded Rectangle 107"/>
          <p:cNvSpPr/>
          <p:nvPr/>
        </p:nvSpPr>
        <p:spPr>
          <a:xfrm>
            <a:off x="6126480" y="2468880"/>
            <a:ext cx="2743200" cy="1078992"/>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6236208" y="257860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100">
                <a:solidFill>
                  <a:srgbClr val="FFFFFF"/>
                </a:solidFill>
                <a:latin typeface="Google Sans Flex SemiBold"/>
                <a:ea typeface="Google Sans Flex SemiBold"/>
                <a:cs typeface="Google Sans Flex SemiBold"/>
                <a:sym typeface="Google Sans Flex SemiBold"/>
              </a:rPr>
              <a:t>6</a:t>
            </a:r>
          </a:p>
        </p:txBody>
      </p:sp>
      <p:sp>
        <p:nvSpPr>
          <p:cNvPr id="110" name="TextBox 109"/>
          <p:cNvSpPr txBox="1"/>
          <p:nvPr/>
        </p:nvSpPr>
        <p:spPr>
          <a:xfrm>
            <a:off x="6583680" y="2560320"/>
            <a:ext cx="2240280" cy="310896"/>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Ask alteria</a:t>
            </a:r>
          </a:p>
        </p:txBody>
      </p:sp>
      <p:sp>
        <p:nvSpPr>
          <p:cNvPr id="111" name="TextBox 110"/>
          <p:cNvSpPr txBox="1"/>
          <p:nvPr/>
        </p:nvSpPr>
        <p:spPr>
          <a:xfrm>
            <a:off x="6236208" y="2907792"/>
            <a:ext cx="2542032" cy="62179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Gemini answers across all calls with cited calls; drafts trackers</a:t>
            </a:r>
          </a:p>
        </p:txBody>
      </p:sp>
      <p:sp>
        <p:nvSpPr>
          <p:cNvPr id="112" name="Rounded Rectangle 111"/>
          <p:cNvSpPr/>
          <p:nvPr/>
        </p:nvSpPr>
        <p:spPr>
          <a:xfrm>
            <a:off x="274320" y="3657600"/>
            <a:ext cx="2743200" cy="1078992"/>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84048" y="376732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100">
                <a:solidFill>
                  <a:srgbClr val="FFFFFF"/>
                </a:solidFill>
                <a:latin typeface="Google Sans Flex SemiBold"/>
                <a:ea typeface="Google Sans Flex SemiBold"/>
                <a:cs typeface="Google Sans Flex SemiBold"/>
                <a:sym typeface="Google Sans Flex SemiBold"/>
              </a:rPr>
              <a:t>7</a:t>
            </a:r>
          </a:p>
        </p:txBody>
      </p:sp>
      <p:sp>
        <p:nvSpPr>
          <p:cNvPr id="114" name="TextBox 113"/>
          <p:cNvSpPr txBox="1"/>
          <p:nvPr/>
        </p:nvSpPr>
        <p:spPr>
          <a:xfrm>
            <a:off x="731520" y="3749039"/>
            <a:ext cx="2240280" cy="310896"/>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Dashboards and CSV export</a:t>
            </a:r>
          </a:p>
        </p:txBody>
      </p:sp>
      <p:sp>
        <p:nvSpPr>
          <p:cNvPr id="115" name="TextBox 114"/>
          <p:cNvSpPr txBox="1"/>
          <p:nvPr/>
        </p:nvSpPr>
        <p:spPr>
          <a:xfrm>
            <a:off x="384048" y="4096512"/>
            <a:ext cx="2542032" cy="62179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Charts you check every week, shareable and exportable</a:t>
            </a:r>
          </a:p>
        </p:txBody>
      </p:sp>
      <p:sp>
        <p:nvSpPr>
          <p:cNvPr id="116" name="Rounded Rectangle 115"/>
          <p:cNvSpPr/>
          <p:nvPr/>
        </p:nvSpPr>
        <p:spPr>
          <a:xfrm>
            <a:off x="3200400" y="3657600"/>
            <a:ext cx="2743200" cy="1078992"/>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310128" y="376732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100">
                <a:solidFill>
                  <a:srgbClr val="FFFFFF"/>
                </a:solidFill>
                <a:latin typeface="Google Sans Flex SemiBold"/>
                <a:ea typeface="Google Sans Flex SemiBold"/>
                <a:cs typeface="Google Sans Flex SemiBold"/>
                <a:sym typeface="Google Sans Flex SemiBold"/>
              </a:rPr>
              <a:t>8</a:t>
            </a:r>
          </a:p>
        </p:txBody>
      </p:sp>
      <p:sp>
        <p:nvSpPr>
          <p:cNvPr id="118" name="TextBox 117"/>
          <p:cNvSpPr txBox="1"/>
          <p:nvPr/>
        </p:nvSpPr>
        <p:spPr>
          <a:xfrm>
            <a:off x="3657600" y="3749039"/>
            <a:ext cx="2240280" cy="310896"/>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People, roles, projects</a:t>
            </a:r>
          </a:p>
        </p:txBody>
      </p:sp>
      <p:sp>
        <p:nvSpPr>
          <p:cNvPr id="119" name="TextBox 118"/>
          <p:cNvSpPr txBox="1"/>
          <p:nvPr/>
        </p:nvSpPr>
        <p:spPr>
          <a:xfrm>
            <a:off x="3310128" y="4096512"/>
            <a:ext cx="2542032" cy="62179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Workspaces with owners, members and viewers</a:t>
            </a:r>
          </a:p>
        </p:txBody>
      </p:sp>
      <p:sp>
        <p:nvSpPr>
          <p:cNvPr id="120" name="Rounded Rectangle 119"/>
          <p:cNvSpPr/>
          <p:nvPr/>
        </p:nvSpPr>
        <p:spPr>
          <a:xfrm>
            <a:off x="6126480" y="3657600"/>
            <a:ext cx="2743200" cy="1078992"/>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6236208" y="376732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100">
                <a:solidFill>
                  <a:srgbClr val="FFFFFF"/>
                </a:solidFill>
                <a:latin typeface="Google Sans Flex SemiBold"/>
                <a:ea typeface="Google Sans Flex SemiBold"/>
                <a:cs typeface="Google Sans Flex SemiBold"/>
                <a:sym typeface="Google Sans Flex SemiBold"/>
              </a:rPr>
              <a:t>9</a:t>
            </a:r>
          </a:p>
        </p:txBody>
      </p:sp>
      <p:sp>
        <p:nvSpPr>
          <p:cNvPr id="122" name="TextBox 121"/>
          <p:cNvSpPr txBox="1"/>
          <p:nvPr/>
        </p:nvSpPr>
        <p:spPr>
          <a:xfrm>
            <a:off x="6583680" y="3749039"/>
            <a:ext cx="2240280" cy="310896"/>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Cost shown first</a:t>
            </a:r>
          </a:p>
        </p:txBody>
      </p:sp>
      <p:sp>
        <p:nvSpPr>
          <p:cNvPr id="123" name="TextBox 122"/>
          <p:cNvSpPr txBox="1"/>
          <p:nvPr/>
        </p:nvSpPr>
        <p:spPr>
          <a:xfrm>
            <a:off x="6236208" y="4096512"/>
            <a:ext cx="2542032" cy="62179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Estimate before any run; calls over 30k tokens flagged</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274320" y="1325880"/>
            <a:ext cx="1463040" cy="13258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95527" y="1399032"/>
            <a:ext cx="420624" cy="420624"/>
          </a:xfrm>
          <a:prstGeom prst="ellipse">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300">
                <a:solidFill>
                  <a:srgbClr val="FFFFFF"/>
                </a:solidFill>
                <a:latin typeface="Google Sans Flex SemiBold"/>
                <a:ea typeface="Google Sans Flex SemiBold"/>
                <a:cs typeface="Google Sans Flex SemiBold"/>
                <a:sym typeface="Google Sans Flex SemiBold"/>
              </a:rPr>
              <a:t>1</a:t>
            </a:r>
          </a:p>
        </p:txBody>
      </p:sp>
      <p:sp>
        <p:nvSpPr>
          <p:cNvPr id="98" name="TextBox 97"/>
          <p:cNvSpPr txBox="1"/>
          <p:nvPr/>
        </p:nvSpPr>
        <p:spPr>
          <a:xfrm>
            <a:off x="320040" y="1847088"/>
            <a:ext cx="1371600" cy="274320"/>
          </a:xfrm>
          <a:prstGeom prst="rect">
            <a:avLst/>
          </a:prstGeom>
          <a:noFill/>
        </p:spPr>
        <p:txBody>
          <a:bodyPr wrap="square" lIns="36576" rIns="36576" tIns="27432" bIns="27432" anchor="t">
            <a:spAutoFit/>
          </a:bodyPr>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Define trackers</a:t>
            </a:r>
          </a:p>
        </p:txBody>
      </p:sp>
      <p:sp>
        <p:nvSpPr>
          <p:cNvPr id="99" name="TextBox 98"/>
          <p:cNvSpPr txBox="1"/>
          <p:nvPr/>
        </p:nvSpPr>
        <p:spPr>
          <a:xfrm>
            <a:off x="320040" y="2121408"/>
            <a:ext cx="1371600" cy="502920"/>
          </a:xfrm>
          <a:prstGeom prst="rect">
            <a:avLst/>
          </a:prstGeom>
          <a:noFill/>
        </p:spPr>
        <p:txBody>
          <a:bodyPr wrap="square" lIns="36576" rIns="36576" tIns="27432" bIns="27432" anchor="t">
            <a:spAutoFit/>
          </a:bodyPr>
          <a:lstStyle/>
          <a:p>
            <a:pPr algn="ctr">
              <a:spcAft>
                <a:spcPts val="0"/>
              </a:spcAft>
              <a:buNone/>
            </a:pPr>
            <a:r>
              <a:rPr sz="1100">
                <a:solidFill>
                  <a:srgbClr val="5F6368"/>
                </a:solidFill>
                <a:latin typeface="Google Sans Flex"/>
                <a:ea typeface="Google Sans Flex"/>
                <a:cs typeface="Google Sans Flex"/>
                <a:sym typeface="Google Sans Flex"/>
              </a:rPr>
              <a:t>signals: Choice, Yes/No, Score</a:t>
            </a:r>
          </a:p>
        </p:txBody>
      </p:sp>
      <p:sp>
        <p:nvSpPr>
          <p:cNvPr id="100" name="Rounded Rectangle 99"/>
          <p:cNvSpPr/>
          <p:nvPr/>
        </p:nvSpPr>
        <p:spPr>
          <a:xfrm>
            <a:off x="2057400" y="1325880"/>
            <a:ext cx="1463040" cy="13258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578608" y="1399032"/>
            <a:ext cx="420624" cy="420624"/>
          </a:xfrm>
          <a:prstGeom prst="ellipse">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300">
                <a:solidFill>
                  <a:srgbClr val="FFFFFF"/>
                </a:solidFill>
                <a:latin typeface="Google Sans Flex SemiBold"/>
                <a:ea typeface="Google Sans Flex SemiBold"/>
                <a:cs typeface="Google Sans Flex SemiBold"/>
                <a:sym typeface="Google Sans Flex SemiBold"/>
              </a:rPr>
              <a:t>2</a:t>
            </a:r>
          </a:p>
        </p:txBody>
      </p:sp>
      <p:sp>
        <p:nvSpPr>
          <p:cNvPr id="102" name="TextBox 101"/>
          <p:cNvSpPr txBox="1"/>
          <p:nvPr/>
        </p:nvSpPr>
        <p:spPr>
          <a:xfrm>
            <a:off x="2103120" y="1847088"/>
            <a:ext cx="1371600" cy="274320"/>
          </a:xfrm>
          <a:prstGeom prst="rect">
            <a:avLst/>
          </a:prstGeom>
          <a:noFill/>
        </p:spPr>
        <p:txBody>
          <a:bodyPr wrap="square" lIns="36576" rIns="36576" tIns="27432" bIns="27432" anchor="t">
            <a:spAutoFit/>
          </a:bodyPr>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Upload</a:t>
            </a:r>
          </a:p>
        </p:txBody>
      </p:sp>
      <p:sp>
        <p:nvSpPr>
          <p:cNvPr id="103" name="TextBox 102"/>
          <p:cNvSpPr txBox="1"/>
          <p:nvPr/>
        </p:nvSpPr>
        <p:spPr>
          <a:xfrm>
            <a:off x="2103120" y="2121408"/>
            <a:ext cx="1371600" cy="502920"/>
          </a:xfrm>
          <a:prstGeom prst="rect">
            <a:avLst/>
          </a:prstGeom>
          <a:noFill/>
        </p:spPr>
        <p:txBody>
          <a:bodyPr wrap="square" lIns="36576" rIns="36576" tIns="27432" bIns="27432" anchor="t">
            <a:spAutoFit/>
          </a:bodyPr>
          <a:lstStyle/>
          <a:p>
            <a:pPr algn="ctr">
              <a:spcAft>
                <a:spcPts val="0"/>
              </a:spcAft>
              <a:buNone/>
            </a:pPr>
            <a:r>
              <a:rPr sz="1100">
                <a:solidFill>
                  <a:srgbClr val="5F6368"/>
                </a:solidFill>
                <a:latin typeface="Google Sans Flex"/>
                <a:ea typeface="Google Sans Flex"/>
                <a:cs typeface="Google Sans Flex"/>
                <a:sym typeface="Google Sans Flex"/>
              </a:rPr>
              <a:t>transcripts or recordings</a:t>
            </a:r>
          </a:p>
        </p:txBody>
      </p:sp>
      <p:sp>
        <p:nvSpPr>
          <p:cNvPr id="104" name="Rounded Rectangle 103"/>
          <p:cNvSpPr/>
          <p:nvPr/>
        </p:nvSpPr>
        <p:spPr>
          <a:xfrm>
            <a:off x="3840480" y="1325880"/>
            <a:ext cx="1463040" cy="13258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4361688" y="1399032"/>
            <a:ext cx="420624" cy="420624"/>
          </a:xfrm>
          <a:prstGeom prst="ellipse">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300">
                <a:solidFill>
                  <a:srgbClr val="FFFFFF"/>
                </a:solidFill>
                <a:latin typeface="Google Sans Flex SemiBold"/>
                <a:ea typeface="Google Sans Flex SemiBold"/>
                <a:cs typeface="Google Sans Flex SemiBold"/>
                <a:sym typeface="Google Sans Flex SemiBold"/>
              </a:rPr>
              <a:t>3</a:t>
            </a:r>
          </a:p>
        </p:txBody>
      </p:sp>
      <p:sp>
        <p:nvSpPr>
          <p:cNvPr id="106" name="TextBox 105"/>
          <p:cNvSpPr txBox="1"/>
          <p:nvPr/>
        </p:nvSpPr>
        <p:spPr>
          <a:xfrm>
            <a:off x="3886200" y="1847088"/>
            <a:ext cx="1371600" cy="274320"/>
          </a:xfrm>
          <a:prstGeom prst="rect">
            <a:avLst/>
          </a:prstGeom>
          <a:noFill/>
        </p:spPr>
        <p:txBody>
          <a:bodyPr wrap="square" lIns="36576" rIns="36576" tIns="27432" bIns="27432" anchor="t">
            <a:spAutoFit/>
          </a:bodyPr>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See the cost</a:t>
            </a:r>
          </a:p>
        </p:txBody>
      </p:sp>
      <p:sp>
        <p:nvSpPr>
          <p:cNvPr id="107" name="TextBox 106"/>
          <p:cNvSpPr txBox="1"/>
          <p:nvPr/>
        </p:nvSpPr>
        <p:spPr>
          <a:xfrm>
            <a:off x="3886200" y="2121408"/>
            <a:ext cx="1371600" cy="502920"/>
          </a:xfrm>
          <a:prstGeom prst="rect">
            <a:avLst/>
          </a:prstGeom>
          <a:noFill/>
        </p:spPr>
        <p:txBody>
          <a:bodyPr wrap="square" lIns="36576" rIns="36576" tIns="27432" bIns="27432" anchor="t">
            <a:spAutoFit/>
          </a:bodyPr>
          <a:lstStyle/>
          <a:p>
            <a:pPr algn="ctr">
              <a:spcAft>
                <a:spcPts val="0"/>
              </a:spcAft>
              <a:buNone/>
            </a:pPr>
            <a:r>
              <a:rPr sz="1100">
                <a:solidFill>
                  <a:srgbClr val="5F6368"/>
                </a:solidFill>
                <a:latin typeface="Google Sans Flex"/>
                <a:ea typeface="Google Sans Flex"/>
                <a:cs typeface="Google Sans Flex"/>
                <a:sym typeface="Google Sans Flex"/>
              </a:rPr>
              <a:t>calls over 30k tokens are flagged</a:t>
            </a:r>
          </a:p>
        </p:txBody>
      </p:sp>
      <p:sp>
        <p:nvSpPr>
          <p:cNvPr id="108" name="Rounded Rectangle 107"/>
          <p:cNvSpPr/>
          <p:nvPr/>
        </p:nvSpPr>
        <p:spPr>
          <a:xfrm>
            <a:off x="5623559" y="1325880"/>
            <a:ext cx="1463040" cy="1325880"/>
          </a:xfrm>
          <a:prstGeom prst="roundRect">
            <a:avLst>
              <a:gd name="adj" fmla="val 6000"/>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6144768" y="1399032"/>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300">
                <a:solidFill>
                  <a:srgbClr val="202124"/>
                </a:solidFill>
                <a:latin typeface="Google Sans Flex SemiBold"/>
                <a:ea typeface="Google Sans Flex SemiBold"/>
                <a:cs typeface="Google Sans Flex SemiBold"/>
                <a:sym typeface="Google Sans Flex SemiBold"/>
              </a:rPr>
              <a:t>4</a:t>
            </a:r>
          </a:p>
        </p:txBody>
      </p:sp>
      <p:sp>
        <p:nvSpPr>
          <p:cNvPr id="110" name="TextBox 109"/>
          <p:cNvSpPr txBox="1"/>
          <p:nvPr/>
        </p:nvSpPr>
        <p:spPr>
          <a:xfrm>
            <a:off x="5669279" y="1847088"/>
            <a:ext cx="1371600" cy="274320"/>
          </a:xfrm>
          <a:prstGeom prst="rect">
            <a:avLst/>
          </a:prstGeom>
          <a:noFill/>
        </p:spPr>
        <p:txBody>
          <a:bodyPr wrap="square" lIns="36576" rIns="36576" tIns="27432" bIns="27432" anchor="t">
            <a:spAutoFit/>
          </a:bodyPr>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Jev answers</a:t>
            </a:r>
          </a:p>
        </p:txBody>
      </p:sp>
      <p:sp>
        <p:nvSpPr>
          <p:cNvPr id="111" name="TextBox 110"/>
          <p:cNvSpPr txBox="1"/>
          <p:nvPr/>
        </p:nvSpPr>
        <p:spPr>
          <a:xfrm>
            <a:off x="5669279" y="2121408"/>
            <a:ext cx="1371600" cy="502920"/>
          </a:xfrm>
          <a:prstGeom prst="rect">
            <a:avLst/>
          </a:prstGeom>
          <a:noFill/>
        </p:spPr>
        <p:txBody>
          <a:bodyPr wrap="square" lIns="36576" rIns="36576" tIns="27432" bIns="27432" anchor="t">
            <a:spAutoFit/>
          </a:bodyPr>
          <a:lstStyle/>
          <a:p>
            <a:pPr algn="ctr">
              <a:spcAft>
                <a:spcPts val="0"/>
              </a:spcAft>
              <a:buNone/>
            </a:pPr>
            <a:r>
              <a:rPr sz="1100">
                <a:solidFill>
                  <a:srgbClr val="FFFFFF"/>
                </a:solidFill>
                <a:latin typeface="Google Sans Flex"/>
                <a:ea typeface="Google Sans Flex"/>
                <a:cs typeface="Google Sans Flex"/>
                <a:sym typeface="Google Sans Flex"/>
              </a:rPr>
              <a:t>every signal, with confidence</a:t>
            </a:r>
          </a:p>
        </p:txBody>
      </p:sp>
      <p:sp>
        <p:nvSpPr>
          <p:cNvPr id="112" name="Rounded Rectangle 111"/>
          <p:cNvSpPr/>
          <p:nvPr/>
        </p:nvSpPr>
        <p:spPr>
          <a:xfrm>
            <a:off x="7406640" y="1325880"/>
            <a:ext cx="1463040" cy="13258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7927848" y="1399032"/>
            <a:ext cx="420624" cy="420624"/>
          </a:xfrm>
          <a:prstGeom prst="ellipse">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300">
                <a:solidFill>
                  <a:srgbClr val="FFFFFF"/>
                </a:solidFill>
                <a:latin typeface="Google Sans Flex SemiBold"/>
                <a:ea typeface="Google Sans Flex SemiBold"/>
                <a:cs typeface="Google Sans Flex SemiBold"/>
                <a:sym typeface="Google Sans Flex SemiBold"/>
              </a:rPr>
              <a:t>5</a:t>
            </a:r>
          </a:p>
        </p:txBody>
      </p:sp>
      <p:sp>
        <p:nvSpPr>
          <p:cNvPr id="114" name="TextBox 113"/>
          <p:cNvSpPr txBox="1"/>
          <p:nvPr/>
        </p:nvSpPr>
        <p:spPr>
          <a:xfrm>
            <a:off x="7452360" y="1847088"/>
            <a:ext cx="1371600" cy="274320"/>
          </a:xfrm>
          <a:prstGeom prst="rect">
            <a:avLst/>
          </a:prstGeom>
          <a:noFill/>
        </p:spPr>
        <p:txBody>
          <a:bodyPr wrap="square" lIns="36576" rIns="36576" tIns="27432" bIns="27432" anchor="t">
            <a:spAutoFit/>
          </a:bodyPr>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Act on it</a:t>
            </a:r>
          </a:p>
        </p:txBody>
      </p:sp>
      <p:sp>
        <p:nvSpPr>
          <p:cNvPr id="115" name="TextBox 114"/>
          <p:cNvSpPr txBox="1"/>
          <p:nvPr/>
        </p:nvSpPr>
        <p:spPr>
          <a:xfrm>
            <a:off x="7452360" y="2121408"/>
            <a:ext cx="1371600" cy="502920"/>
          </a:xfrm>
          <a:prstGeom prst="rect">
            <a:avLst/>
          </a:prstGeom>
          <a:noFill/>
        </p:spPr>
        <p:txBody>
          <a:bodyPr wrap="square" lIns="36576" rIns="36576" tIns="27432" bIns="27432" anchor="t">
            <a:spAutoFit/>
          </a:bodyPr>
          <a:lstStyle/>
          <a:p>
            <a:pPr algn="ctr">
              <a:spcAft>
                <a:spcPts val="0"/>
              </a:spcAft>
              <a:buNone/>
            </a:pPr>
            <a:r>
              <a:rPr sz="1100">
                <a:solidFill>
                  <a:srgbClr val="5F6368"/>
                </a:solidFill>
                <a:latin typeface="Google Sans Flex"/>
                <a:ea typeface="Google Sans Flex"/>
                <a:cs typeface="Google Sans Flex"/>
                <a:sym typeface="Google Sans Flex"/>
              </a:rPr>
              <a:t>insights, Ask alteria, CSV</a:t>
            </a:r>
          </a:p>
        </p:txBody>
      </p:sp>
      <p:cxnSp>
        <p:nvCxnSpPr>
          <p:cNvPr id="116" name="Connector 115"/>
          <p:cNvCxnSpPr>
            <a:stCxn id="96" idx="3"/>
            <a:endCxn id="100" idx="1"/>
          </p:cNvCxnSpPr>
          <p:nvPr/>
        </p:nvCxnSpPr>
        <p:spPr>
          <a:xfrm flipV="1">
            <a:off x="1737360" y="1988820"/>
            <a:ext cx="320040" cy="0"/>
          </a:xfrm>
          <a:prstGeom prst="line">
            <a:avLst/>
          </a:prstGeom>
          <a:ln w="25400">
            <a:solidFill>
              <a:srgbClr val="202124"/>
            </a:solidFill>
            <a:tailEnd type="triangle"/>
          </a:ln>
        </p:spPr>
        <p:style>
          <a:lnRef idx="2">
            <a:schemeClr val="accent1"/>
          </a:lnRef>
          <a:fillRef idx="0">
            <a:schemeClr val="accent1"/>
          </a:fillRef>
          <a:effectRef idx="1">
            <a:schemeClr val="accent1"/>
          </a:effectRef>
          <a:fontRef idx="minor">
            <a:schemeClr val="tx1"/>
          </a:fontRef>
        </p:style>
      </p:cxnSp>
      <p:cxnSp>
        <p:nvCxnSpPr>
          <p:cNvPr id="117" name="Connector 116"/>
          <p:cNvCxnSpPr>
            <a:stCxn id="100" idx="3"/>
            <a:endCxn id="104" idx="1"/>
          </p:cNvCxnSpPr>
          <p:nvPr/>
        </p:nvCxnSpPr>
        <p:spPr>
          <a:xfrm flipV="1">
            <a:off x="3520440" y="1988820"/>
            <a:ext cx="320040" cy="0"/>
          </a:xfrm>
          <a:prstGeom prst="line">
            <a:avLst/>
          </a:prstGeom>
          <a:ln w="25400">
            <a:solidFill>
              <a:srgbClr val="202124"/>
            </a:solidFill>
            <a:tailEnd type="triangle"/>
          </a:ln>
        </p:spPr>
        <p:style>
          <a:lnRef idx="2">
            <a:schemeClr val="accent1"/>
          </a:lnRef>
          <a:fillRef idx="0">
            <a:schemeClr val="accent1"/>
          </a:fillRef>
          <a:effectRef idx="1">
            <a:schemeClr val="accent1"/>
          </a:effectRef>
          <a:fontRef idx="minor">
            <a:schemeClr val="tx1"/>
          </a:fontRef>
        </p:style>
      </p:cxnSp>
      <p:cxnSp>
        <p:nvCxnSpPr>
          <p:cNvPr id="118" name="Connector 117"/>
          <p:cNvCxnSpPr>
            <a:stCxn id="104" idx="3"/>
            <a:endCxn id="108" idx="1"/>
          </p:cNvCxnSpPr>
          <p:nvPr/>
        </p:nvCxnSpPr>
        <p:spPr>
          <a:xfrm flipV="1">
            <a:off x="5303520" y="1988820"/>
            <a:ext cx="320039" cy="0"/>
          </a:xfrm>
          <a:prstGeom prst="line">
            <a:avLst/>
          </a:prstGeom>
          <a:ln w="25400">
            <a:solidFill>
              <a:srgbClr val="202124"/>
            </a:solidFill>
            <a:tailEnd type="triangle"/>
          </a:ln>
        </p:spPr>
        <p:style>
          <a:lnRef idx="2">
            <a:schemeClr val="accent1"/>
          </a:lnRef>
          <a:fillRef idx="0">
            <a:schemeClr val="accent1"/>
          </a:fillRef>
          <a:effectRef idx="1">
            <a:schemeClr val="accent1"/>
          </a:effectRef>
          <a:fontRef idx="minor">
            <a:schemeClr val="tx1"/>
          </a:fontRef>
        </p:style>
      </p:cxnSp>
      <p:cxnSp>
        <p:nvCxnSpPr>
          <p:cNvPr id="119" name="Connector 118"/>
          <p:cNvCxnSpPr>
            <a:stCxn id="108" idx="3"/>
            <a:endCxn id="112" idx="1"/>
          </p:cNvCxnSpPr>
          <p:nvPr/>
        </p:nvCxnSpPr>
        <p:spPr>
          <a:xfrm flipV="1">
            <a:off x="7086599" y="1988820"/>
            <a:ext cx="320041" cy="0"/>
          </a:xfrm>
          <a:prstGeom prst="line">
            <a:avLst/>
          </a:prstGeom>
          <a:ln w="25400">
            <a:solidFill>
              <a:srgbClr val="202124"/>
            </a:solidFill>
            <a:tailEnd type="triangle"/>
          </a:ln>
        </p:spPr>
        <p:style>
          <a:lnRef idx="2">
            <a:schemeClr val="accent1"/>
          </a:lnRef>
          <a:fillRef idx="0">
            <a:schemeClr val="accent1"/>
          </a:fillRef>
          <a:effectRef idx="1">
            <a:schemeClr val="accent1"/>
          </a:effectRef>
          <a:fontRef idx="minor">
            <a:schemeClr val="tx1"/>
          </a:fontRef>
        </p:style>
      </p:cxnSp>
      <p:sp>
        <p:nvSpPr>
          <p:cNvPr id="120" name="Rounded Rectangle 119"/>
          <p:cNvSpPr/>
          <p:nvPr/>
        </p:nvSpPr>
        <p:spPr>
          <a:xfrm>
            <a:off x="1554480" y="2926080"/>
            <a:ext cx="2468880" cy="475488"/>
          </a:xfrm>
          <a:prstGeom prst="roundRect">
            <a:avLst>
              <a:gd name="adj" fmla="val 6000"/>
            </a:avLst>
          </a:prstGeom>
          <a:solidFill>
            <a:srgbClr val="E6F4EA"/>
          </a:solidFill>
          <a:ln w="9525">
            <a:solidFill>
              <a:srgbClr val="18803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100">
                <a:solidFill>
                  <a:srgbClr val="202124"/>
                </a:solidFill>
                <a:latin typeface="Google Sans Flex"/>
                <a:ea typeface="Google Sans Flex"/>
                <a:cs typeface="Google Sans Flex"/>
                <a:sym typeface="Google Sans Flex"/>
              </a:rPr>
              <a:t>Recording: Gemini transcribes, speakers labelled</a:t>
            </a:r>
          </a:p>
        </p:txBody>
      </p:sp>
      <p:sp>
        <p:nvSpPr>
          <p:cNvPr id="121" name="Rounded Rectangle 120"/>
          <p:cNvSpPr/>
          <p:nvPr/>
        </p:nvSpPr>
        <p:spPr>
          <a:xfrm>
            <a:off x="5120640" y="2926080"/>
            <a:ext cx="2468880" cy="475488"/>
          </a:xfrm>
          <a:prstGeom prst="roundRect">
            <a:avLst>
              <a:gd name="adj" fmla="val 6000"/>
            </a:avLst>
          </a:prstGeom>
          <a:solidFill>
            <a:srgbClr val="FEF7E0"/>
          </a:solidFill>
          <a:ln w="9525">
            <a:solidFill>
              <a:srgbClr val="B06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100">
                <a:solidFill>
                  <a:srgbClr val="202124"/>
                </a:solidFill>
                <a:latin typeface="Google Sans Flex"/>
                <a:ea typeface="Google Sans Flex"/>
                <a:cs typeface="Google Sans Flex"/>
                <a:sym typeface="Google Sans Flex"/>
              </a:rPr>
              <a:t>Low confidence: routed to human review</a:t>
            </a:r>
          </a:p>
        </p:txBody>
      </p:sp>
      <p:cxnSp>
        <p:nvCxnSpPr>
          <p:cNvPr id="122" name="Connector 121"/>
          <p:cNvCxnSpPr>
            <a:stCxn id="100" idx="2"/>
            <a:endCxn id="120" idx="0"/>
          </p:cNvCxnSpPr>
          <p:nvPr/>
        </p:nvCxnSpPr>
        <p:spPr>
          <a:xfrm flipH="1">
            <a:off x="2788920" y="2651760"/>
            <a:ext cx="0" cy="274320"/>
          </a:xfrm>
          <a:prstGeom prst="line">
            <a:avLst/>
          </a:prstGeom>
          <a:ln w="19050">
            <a:solidFill>
              <a:srgbClr val="188038"/>
            </a:solidFill>
            <a:tailEnd type="triangle"/>
          </a:ln>
        </p:spPr>
        <p:style>
          <a:lnRef idx="2">
            <a:schemeClr val="accent1"/>
          </a:lnRef>
          <a:fillRef idx="0">
            <a:schemeClr val="accent1"/>
          </a:fillRef>
          <a:effectRef idx="1">
            <a:schemeClr val="accent1"/>
          </a:effectRef>
          <a:fontRef idx="minor">
            <a:schemeClr val="tx1"/>
          </a:fontRef>
        </p:style>
      </p:cxnSp>
      <p:cxnSp>
        <p:nvCxnSpPr>
          <p:cNvPr id="123" name="Connector 122"/>
          <p:cNvCxnSpPr>
            <a:stCxn id="108" idx="2"/>
            <a:endCxn id="121" idx="0"/>
          </p:cNvCxnSpPr>
          <p:nvPr/>
        </p:nvCxnSpPr>
        <p:spPr>
          <a:xfrm>
            <a:off x="6355079" y="2651760"/>
            <a:ext cx="1" cy="274320"/>
          </a:xfrm>
          <a:prstGeom prst="line">
            <a:avLst/>
          </a:prstGeom>
          <a:ln w="19050">
            <a:solidFill>
              <a:srgbClr val="B06000"/>
            </a:solidFill>
            <a:tailEnd type="triangle"/>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274320" y="3520440"/>
            <a:ext cx="8595360" cy="274320"/>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Illustrative retail signals a tracker could ask on every conversation</a:t>
            </a:r>
          </a:p>
        </p:txBody>
      </p:sp>
      <p:sp>
        <p:nvSpPr>
          <p:cNvPr id="125" name="Rounded Rectangle 124"/>
          <p:cNvSpPr/>
          <p:nvPr/>
        </p:nvSpPr>
        <p:spPr>
          <a:xfrm>
            <a:off x="274320" y="3813048"/>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return / refund reason</a:t>
            </a:r>
          </a:p>
        </p:txBody>
      </p:sp>
      <p:sp>
        <p:nvSpPr>
          <p:cNvPr id="126" name="Rounded Rectangle 125"/>
          <p:cNvSpPr/>
          <p:nvPr/>
        </p:nvSpPr>
        <p:spPr>
          <a:xfrm>
            <a:off x="2441448" y="3813048"/>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purchase intent</a:t>
            </a:r>
          </a:p>
        </p:txBody>
      </p:sp>
      <p:sp>
        <p:nvSpPr>
          <p:cNvPr id="127" name="Rounded Rectangle 126"/>
          <p:cNvSpPr/>
          <p:nvPr/>
        </p:nvSpPr>
        <p:spPr>
          <a:xfrm>
            <a:off x="4608576" y="3813048"/>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product interest</a:t>
            </a:r>
          </a:p>
        </p:txBody>
      </p:sp>
      <p:sp>
        <p:nvSpPr>
          <p:cNvPr id="128" name="Rounded Rectangle 127"/>
          <p:cNvSpPr/>
          <p:nvPr/>
        </p:nvSpPr>
        <p:spPr>
          <a:xfrm>
            <a:off x="6775704" y="3813048"/>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competitor mentioned</a:t>
            </a:r>
          </a:p>
        </p:txBody>
      </p:sp>
      <p:sp>
        <p:nvSpPr>
          <p:cNvPr id="129" name="Rounded Rectangle 128"/>
          <p:cNvSpPr/>
          <p:nvPr/>
        </p:nvSpPr>
        <p:spPr>
          <a:xfrm>
            <a:off x="274320" y="4142232"/>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price objection</a:t>
            </a:r>
          </a:p>
        </p:txBody>
      </p:sp>
      <p:sp>
        <p:nvSpPr>
          <p:cNvPr id="130" name="Rounded Rectangle 129"/>
          <p:cNvSpPr/>
          <p:nvPr/>
        </p:nvSpPr>
        <p:spPr>
          <a:xfrm>
            <a:off x="2441448" y="4142232"/>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delivery complaint</a:t>
            </a:r>
          </a:p>
        </p:txBody>
      </p:sp>
      <p:sp>
        <p:nvSpPr>
          <p:cNvPr id="131" name="Rounded Rectangle 130"/>
          <p:cNvSpPr/>
          <p:nvPr/>
        </p:nvSpPr>
        <p:spPr>
          <a:xfrm>
            <a:off x="4608576" y="4142232"/>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churn risk</a:t>
            </a:r>
          </a:p>
        </p:txBody>
      </p:sp>
      <p:sp>
        <p:nvSpPr>
          <p:cNvPr id="132" name="Rounded Rectangle 131"/>
          <p:cNvSpPr/>
          <p:nvPr/>
        </p:nvSpPr>
        <p:spPr>
          <a:xfrm>
            <a:off x="6775704" y="4142232"/>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sentiment / frustration</a:t>
            </a:r>
          </a:p>
        </p:txBody>
      </p:sp>
      <p:sp>
        <p:nvSpPr>
          <p:cNvPr id="133" name="Rounded Rectangle 132"/>
          <p:cNvSpPr/>
          <p:nvPr/>
        </p:nvSpPr>
        <p:spPr>
          <a:xfrm>
            <a:off x="274320" y="4471416"/>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right resolution offered</a:t>
            </a:r>
          </a:p>
        </p:txBody>
      </p:sp>
      <p:sp>
        <p:nvSpPr>
          <p:cNvPr id="134" name="Rounded Rectangle 133"/>
          <p:cNvSpPr/>
          <p:nvPr/>
        </p:nvSpPr>
        <p:spPr>
          <a:xfrm>
            <a:off x="2441448" y="4471416"/>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upsell attempted</a:t>
            </a:r>
          </a:p>
        </p:txBody>
      </p:sp>
      <p:sp>
        <p:nvSpPr>
          <p:cNvPr id="135" name="Rounded Rectangle 134"/>
          <p:cNvSpPr/>
          <p:nvPr/>
        </p:nvSpPr>
        <p:spPr>
          <a:xfrm>
            <a:off x="4608576" y="4471416"/>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policy misstated</a:t>
            </a:r>
          </a:p>
        </p:txBody>
      </p:sp>
      <p:sp>
        <p:nvSpPr>
          <p:cNvPr id="136" name="Rounded Rectangle 135"/>
          <p:cNvSpPr/>
          <p:nvPr/>
        </p:nvSpPr>
        <p:spPr>
          <a:xfrm>
            <a:off x="6775704" y="4471416"/>
            <a:ext cx="2057400" cy="274320"/>
          </a:xfrm>
          <a:prstGeom prst="roundRect">
            <a:avLst>
              <a:gd name="adj" fmla="val 5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202124"/>
                </a:solidFill>
                <a:latin typeface="Google Sans Flex"/>
                <a:ea typeface="Google Sans Flex"/>
                <a:cs typeface="Google Sans Flex"/>
                <a:sym typeface="Google Sans Flex"/>
              </a:rPr>
              <a:t>asked for a human</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 / mock diagrams of the proposed solution</a:t>
            </a:r>
            <a:endParaRPr sz="1600">
              <a:latin typeface="Google Sans Flex Medium"/>
              <a:ea typeface="Google Sans Flex Medium"/>
              <a:cs typeface="Google Sans Flex Medium"/>
              <a:sym typeface="Google Sans Flex Medium"/>
            </a:endParaRPr>
          </a:p>
        </p:txBody>
      </p:sp>
      <p:sp>
        <p:nvSpPr>
          <p:cNvPr id="104" name="Rounded Rectangle 103"/>
          <p:cNvSpPr/>
          <p:nvPr/>
        </p:nvSpPr>
        <p:spPr>
          <a:xfrm>
            <a:off x="274320" y="1280160"/>
            <a:ext cx="4206240" cy="3154680"/>
          </a:xfrm>
          <a:prstGeom prst="roundRect">
            <a:avLst>
              <a:gd name="adj" fmla="val 3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274320" y="1280160"/>
            <a:ext cx="4206240" cy="329184"/>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65760" y="1280160"/>
            <a:ext cx="1828800" cy="329184"/>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Ask alteria</a:t>
            </a:r>
          </a:p>
        </p:txBody>
      </p:sp>
      <p:sp>
        <p:nvSpPr>
          <p:cNvPr id="107" name="TextBox 106"/>
          <p:cNvSpPr txBox="1"/>
          <p:nvPr/>
        </p:nvSpPr>
        <p:spPr>
          <a:xfrm>
            <a:off x="2743200" y="1280160"/>
            <a:ext cx="1645920" cy="329184"/>
          </a:xfrm>
          <a:prstGeom prst="rect">
            <a:avLst/>
          </a:prstGeom>
          <a:noFill/>
        </p:spPr>
        <p:txBody>
          <a:bodyPr wrap="square" lIns="36576" rIns="36576" tIns="27432" bIns="27432" anchor="ctr">
            <a:spAutoFit/>
          </a:bodyPr>
          <a:lstStyle/>
          <a:p>
            <a:pPr algn="r">
              <a:spcAft>
                <a:spcPts val="0"/>
              </a:spcAft>
              <a:buNone/>
            </a:pPr>
            <a:r>
              <a:rPr sz="1100">
                <a:solidFill>
                  <a:srgbClr val="5F6368"/>
                </a:solidFill>
                <a:latin typeface="Google Sans Flex"/>
                <a:ea typeface="Google Sans Flex"/>
                <a:cs typeface="Google Sans Flex"/>
                <a:sym typeface="Google Sans Flex"/>
              </a:rPr>
              <a:t>illustrative</a:t>
            </a:r>
          </a:p>
        </p:txBody>
      </p:sp>
      <p:sp>
        <p:nvSpPr>
          <p:cNvPr id="108" name="Rounded Rectangle 107"/>
          <p:cNvSpPr/>
          <p:nvPr/>
        </p:nvSpPr>
        <p:spPr>
          <a:xfrm>
            <a:off x="2194560" y="1737360"/>
            <a:ext cx="2194560" cy="457200"/>
          </a:xfrm>
          <a:prstGeom prst="roundRect">
            <a:avLst>
              <a:gd name="adj" fmla="val 20000"/>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100">
                <a:solidFill>
                  <a:srgbClr val="FFFFFF"/>
                </a:solidFill>
                <a:latin typeface="Google Sans Flex"/>
                <a:ea typeface="Google Sans Flex"/>
                <a:cs typeface="Google Sans Flex"/>
                <a:sym typeface="Google Sans Flex"/>
              </a:rPr>
              <a:t>Why are customers returning the X?</a:t>
            </a:r>
          </a:p>
        </p:txBody>
      </p:sp>
      <p:sp>
        <p:nvSpPr>
          <p:cNvPr id="109" name="Rounded Rectangle 108"/>
          <p:cNvSpPr/>
          <p:nvPr/>
        </p:nvSpPr>
        <p:spPr>
          <a:xfrm>
            <a:off x="411480" y="2331720"/>
            <a:ext cx="3931920" cy="1325880"/>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02920" y="2377440"/>
            <a:ext cx="3749039" cy="731520"/>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Most returns mention size and fit; delivery delays come second. (example answer)</a:t>
            </a:r>
          </a:p>
        </p:txBody>
      </p:sp>
      <p:sp>
        <p:nvSpPr>
          <p:cNvPr id="111" name="Rounded Rectangle 110"/>
          <p:cNvSpPr/>
          <p:nvPr/>
        </p:nvSpPr>
        <p:spPr>
          <a:xfrm>
            <a:off x="548640" y="3246120"/>
            <a:ext cx="1097280" cy="274320"/>
          </a:xfrm>
          <a:prstGeom prst="roundRect">
            <a:avLst>
              <a:gd name="adj" fmla="val 50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buNone/>
            </a:pPr>
            <a:r>
              <a:rPr sz="1100">
                <a:solidFill>
                  <a:srgbClr val="1A73E8"/>
                </a:solidFill>
                <a:latin typeface="Google Sans Flex"/>
                <a:ea typeface="Google Sans Flex"/>
                <a:cs typeface="Google Sans Flex"/>
                <a:sym typeface="Google Sans Flex"/>
              </a:rPr>
              <a:t>call 0412</a:t>
            </a:r>
          </a:p>
        </p:txBody>
      </p:sp>
      <p:sp>
        <p:nvSpPr>
          <p:cNvPr id="112" name="Rounded Rectangle 111"/>
          <p:cNvSpPr/>
          <p:nvPr/>
        </p:nvSpPr>
        <p:spPr>
          <a:xfrm>
            <a:off x="1737360" y="3246120"/>
            <a:ext cx="1097280" cy="274320"/>
          </a:xfrm>
          <a:prstGeom prst="roundRect">
            <a:avLst>
              <a:gd name="adj" fmla="val 50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buNone/>
            </a:pPr>
            <a:r>
              <a:rPr sz="1100">
                <a:solidFill>
                  <a:srgbClr val="1A73E8"/>
                </a:solidFill>
                <a:latin typeface="Google Sans Flex"/>
                <a:ea typeface="Google Sans Flex"/>
                <a:cs typeface="Google Sans Flex"/>
                <a:sym typeface="Google Sans Flex"/>
              </a:rPr>
              <a:t>call 0977</a:t>
            </a:r>
          </a:p>
        </p:txBody>
      </p:sp>
      <p:sp>
        <p:nvSpPr>
          <p:cNvPr id="113" name="Rounded Rectangle 112"/>
          <p:cNvSpPr/>
          <p:nvPr/>
        </p:nvSpPr>
        <p:spPr>
          <a:xfrm>
            <a:off x="2926080" y="3246120"/>
            <a:ext cx="1097280" cy="274320"/>
          </a:xfrm>
          <a:prstGeom prst="roundRect">
            <a:avLst>
              <a:gd name="adj" fmla="val 50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buNone/>
            </a:pPr>
            <a:r>
              <a:rPr sz="1100">
                <a:solidFill>
                  <a:srgbClr val="1A73E8"/>
                </a:solidFill>
                <a:latin typeface="Google Sans Flex"/>
                <a:ea typeface="Google Sans Flex"/>
                <a:cs typeface="Google Sans Flex"/>
                <a:sym typeface="Google Sans Flex"/>
              </a:rPr>
              <a:t>call 1031</a:t>
            </a:r>
          </a:p>
        </p:txBody>
      </p:sp>
      <p:sp>
        <p:nvSpPr>
          <p:cNvPr id="114" name="Rounded Rectangle 113"/>
          <p:cNvSpPr/>
          <p:nvPr/>
        </p:nvSpPr>
        <p:spPr>
          <a:xfrm>
            <a:off x="411480" y="3931920"/>
            <a:ext cx="3931920" cy="365760"/>
          </a:xfrm>
          <a:prstGeom prst="roundRect">
            <a:avLst>
              <a:gd name="adj" fmla="val 30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spcAft>
                <a:spcPts val="0"/>
              </a:spcAft>
              <a:buNone/>
            </a:pPr>
            <a:r>
              <a:rPr sz="1100">
                <a:solidFill>
                  <a:srgbClr val="5F6368"/>
                </a:solidFill>
                <a:latin typeface="Google Sans Flex"/>
                <a:ea typeface="Google Sans Flex"/>
                <a:cs typeface="Google Sans Flex"/>
                <a:sym typeface="Google Sans Flex"/>
              </a:rPr>
              <a:t>Ask about the conversations in this project…</a:t>
            </a:r>
          </a:p>
        </p:txBody>
      </p:sp>
      <p:sp>
        <p:nvSpPr>
          <p:cNvPr id="115" name="Rounded Rectangle 114"/>
          <p:cNvSpPr/>
          <p:nvPr/>
        </p:nvSpPr>
        <p:spPr>
          <a:xfrm>
            <a:off x="4663440" y="1280160"/>
            <a:ext cx="4206240" cy="3154680"/>
          </a:xfrm>
          <a:prstGeom prst="roundRect">
            <a:avLst>
              <a:gd name="adj" fmla="val 3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4663440" y="1280160"/>
            <a:ext cx="4206240" cy="329184"/>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754880" y="1280160"/>
            <a:ext cx="1828800" cy="329184"/>
          </a:xfrm>
          <a:prstGeom prst="rect">
            <a:avLst/>
          </a:prstGeom>
          <a:noFill/>
        </p:spPr>
        <p:txBody>
          <a:bodyPr wrap="square" lIns="36576" rIns="36576" tIns="27432" bIns="27432" anchor="ctr">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Results</a:t>
            </a:r>
          </a:p>
        </p:txBody>
      </p:sp>
      <p:sp>
        <p:nvSpPr>
          <p:cNvPr id="118" name="TextBox 117"/>
          <p:cNvSpPr txBox="1"/>
          <p:nvPr/>
        </p:nvSpPr>
        <p:spPr>
          <a:xfrm>
            <a:off x="7040880" y="1280160"/>
            <a:ext cx="1737360" cy="329184"/>
          </a:xfrm>
          <a:prstGeom prst="rect">
            <a:avLst/>
          </a:prstGeom>
          <a:noFill/>
        </p:spPr>
        <p:txBody>
          <a:bodyPr wrap="square" lIns="36576" rIns="36576" tIns="27432" bIns="27432" anchor="ctr">
            <a:spAutoFit/>
          </a:bodyPr>
          <a:lstStyle/>
          <a:p>
            <a:pPr algn="r">
              <a:spcAft>
                <a:spcPts val="0"/>
              </a:spcAft>
              <a:buNone/>
            </a:pPr>
            <a:r>
              <a:rPr sz="1100">
                <a:solidFill>
                  <a:srgbClr val="5F6368"/>
                </a:solidFill>
                <a:latin typeface="Google Sans Flex"/>
                <a:ea typeface="Google Sans Flex"/>
                <a:cs typeface="Google Sans Flex"/>
                <a:sym typeface="Google Sans Flex"/>
              </a:rPr>
              <a:t>illustrative</a:t>
            </a:r>
          </a:p>
        </p:txBody>
      </p:sp>
      <p:sp>
        <p:nvSpPr>
          <p:cNvPr id="119" name="Rounded Rectangle 118"/>
          <p:cNvSpPr/>
          <p:nvPr/>
        </p:nvSpPr>
        <p:spPr>
          <a:xfrm>
            <a:off x="4800600" y="1737360"/>
            <a:ext cx="3931920" cy="7772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892040" y="1783080"/>
            <a:ext cx="2377440" cy="237744"/>
          </a:xfrm>
          <a:prstGeom prst="rect">
            <a:avLst/>
          </a:prstGeom>
          <a:noFill/>
        </p:spPr>
        <p:txBody>
          <a:bodyPr wrap="square" lIns="36576" rIns="36576" tIns="27432" bIns="27432" anchor="t">
            <a:spAutoFit/>
          </a:bodyPr>
          <a:lstStyle/>
          <a:p>
            <a:pPr algn="l">
              <a:spcAft>
                <a:spcPts val="0"/>
              </a:spcAft>
              <a:buNone/>
            </a:pPr>
            <a:r>
              <a:rPr sz="1100">
                <a:solidFill>
                  <a:srgbClr val="5F6368"/>
                </a:solidFill>
                <a:latin typeface="Google Sans Flex"/>
                <a:ea typeface="Google Sans Flex"/>
                <a:cs typeface="Google Sans Flex"/>
                <a:sym typeface="Google Sans Flex"/>
              </a:rPr>
              <a:t>call 0412 · chat</a:t>
            </a:r>
          </a:p>
        </p:txBody>
      </p:sp>
      <p:sp>
        <p:nvSpPr>
          <p:cNvPr id="121" name="TextBox 120"/>
          <p:cNvSpPr txBox="1"/>
          <p:nvPr/>
        </p:nvSpPr>
        <p:spPr>
          <a:xfrm>
            <a:off x="4892040" y="2039112"/>
            <a:ext cx="2377440" cy="43891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Return reason: </a:t>
            </a:r>
            <a:r>
              <a:rPr sz="1200">
                <a:solidFill>
                  <a:srgbClr val="202124"/>
                </a:solidFill>
                <a:latin typeface="Google Sans Flex SemiBold"/>
                <a:ea typeface="Google Sans Flex SemiBold"/>
                <a:cs typeface="Google Sans Flex SemiBold"/>
                <a:sym typeface="Google Sans Flex SemiBold"/>
              </a:rPr>
              <a:t>Size too small</a:t>
            </a:r>
          </a:p>
        </p:txBody>
      </p:sp>
      <p:sp>
        <p:nvSpPr>
          <p:cNvPr id="122" name="Rounded Rectangle 121"/>
          <p:cNvSpPr/>
          <p:nvPr/>
        </p:nvSpPr>
        <p:spPr>
          <a:xfrm>
            <a:off x="7360920" y="2130552"/>
            <a:ext cx="1234440" cy="91440"/>
          </a:xfrm>
          <a:prstGeom prst="roundRect">
            <a:avLst>
              <a:gd name="adj" fmla="val 50000"/>
            </a:avLst>
          </a:prstGeom>
          <a:solidFill>
            <a:srgbClr val="DA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7360920" y="2130552"/>
            <a:ext cx="1160373" cy="91440"/>
          </a:xfrm>
          <a:prstGeom prst="roundRect">
            <a:avLst>
              <a:gd name="adj" fmla="val 50000"/>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360920" y="1847088"/>
            <a:ext cx="1280160" cy="256032"/>
          </a:xfrm>
          <a:prstGeom prst="rect">
            <a:avLst/>
          </a:prstGeom>
          <a:noFill/>
        </p:spPr>
        <p:txBody>
          <a:bodyPr wrap="square" lIns="36576" rIns="36576" tIns="27432" bIns="27432" anchor="t">
            <a:spAutoFit/>
          </a:bodyPr>
          <a:lstStyle/>
          <a:p>
            <a:pPr algn="l">
              <a:spcAft>
                <a:spcPts val="0"/>
              </a:spcAft>
              <a:buNone/>
            </a:pPr>
            <a:r>
              <a:rPr sz="1100">
                <a:solidFill>
                  <a:srgbClr val="202124"/>
                </a:solidFill>
                <a:latin typeface="Google Sans Flex"/>
                <a:ea typeface="Google Sans Flex"/>
                <a:cs typeface="Google Sans Flex"/>
                <a:sym typeface="Google Sans Flex"/>
              </a:rPr>
              <a:t>94% sure</a:t>
            </a:r>
          </a:p>
        </p:txBody>
      </p:sp>
      <p:sp>
        <p:nvSpPr>
          <p:cNvPr id="125" name="Rounded Rectangle 124"/>
          <p:cNvSpPr/>
          <p:nvPr/>
        </p:nvSpPr>
        <p:spPr>
          <a:xfrm>
            <a:off x="4800600" y="2606039"/>
            <a:ext cx="3931920" cy="77724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892040" y="2651759"/>
            <a:ext cx="2377440" cy="237744"/>
          </a:xfrm>
          <a:prstGeom prst="rect">
            <a:avLst/>
          </a:prstGeom>
          <a:noFill/>
        </p:spPr>
        <p:txBody>
          <a:bodyPr wrap="square" lIns="36576" rIns="36576" tIns="27432" bIns="27432" anchor="t">
            <a:spAutoFit/>
          </a:bodyPr>
          <a:lstStyle/>
          <a:p>
            <a:pPr algn="l">
              <a:spcAft>
                <a:spcPts val="0"/>
              </a:spcAft>
              <a:buNone/>
            </a:pPr>
            <a:r>
              <a:rPr sz="1100">
                <a:solidFill>
                  <a:srgbClr val="5F6368"/>
                </a:solidFill>
                <a:latin typeface="Google Sans Flex"/>
                <a:ea typeface="Google Sans Flex"/>
                <a:cs typeface="Google Sans Flex"/>
                <a:sym typeface="Google Sans Flex"/>
              </a:rPr>
              <a:t>call 0977 · voice</a:t>
            </a:r>
          </a:p>
        </p:txBody>
      </p:sp>
      <p:sp>
        <p:nvSpPr>
          <p:cNvPr id="127" name="TextBox 126"/>
          <p:cNvSpPr txBox="1"/>
          <p:nvPr/>
        </p:nvSpPr>
        <p:spPr>
          <a:xfrm>
            <a:off x="4892040" y="2907791"/>
            <a:ext cx="2377440" cy="43891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Delivery complaint: </a:t>
            </a:r>
            <a:r>
              <a:rPr sz="1200">
                <a:solidFill>
                  <a:srgbClr val="202124"/>
                </a:solidFill>
                <a:latin typeface="Google Sans Flex SemiBold"/>
                <a:ea typeface="Google Sans Flex SemiBold"/>
                <a:cs typeface="Google Sans Flex SemiBold"/>
                <a:sym typeface="Google Sans Flex SemiBold"/>
              </a:rPr>
              <a:t>Yes</a:t>
            </a:r>
          </a:p>
        </p:txBody>
      </p:sp>
      <p:sp>
        <p:nvSpPr>
          <p:cNvPr id="128" name="Rounded Rectangle 127"/>
          <p:cNvSpPr/>
          <p:nvPr/>
        </p:nvSpPr>
        <p:spPr>
          <a:xfrm>
            <a:off x="7360920" y="2999232"/>
            <a:ext cx="1234440" cy="91440"/>
          </a:xfrm>
          <a:prstGeom prst="roundRect">
            <a:avLst>
              <a:gd name="adj" fmla="val 50000"/>
            </a:avLst>
          </a:prstGeom>
          <a:solidFill>
            <a:srgbClr val="DA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7360920" y="2999232"/>
            <a:ext cx="876452" cy="91440"/>
          </a:xfrm>
          <a:prstGeom prst="roundRect">
            <a:avLst>
              <a:gd name="adj" fmla="val 50000"/>
            </a:avLst>
          </a:prstGeom>
          <a:solidFill>
            <a:srgbClr val="B0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360920" y="2715768"/>
            <a:ext cx="1280160" cy="256032"/>
          </a:xfrm>
          <a:prstGeom prst="rect">
            <a:avLst/>
          </a:prstGeom>
          <a:noFill/>
        </p:spPr>
        <p:txBody>
          <a:bodyPr wrap="square" lIns="36576" rIns="36576" tIns="27432" bIns="27432" anchor="t">
            <a:spAutoFit/>
          </a:bodyPr>
          <a:lstStyle/>
          <a:p>
            <a:pPr algn="l">
              <a:spcAft>
                <a:spcPts val="0"/>
              </a:spcAft>
              <a:buNone/>
            </a:pPr>
            <a:r>
              <a:rPr sz="1100">
                <a:solidFill>
                  <a:srgbClr val="202124"/>
                </a:solidFill>
                <a:latin typeface="Google Sans Flex"/>
                <a:ea typeface="Google Sans Flex"/>
                <a:cs typeface="Google Sans Flex"/>
                <a:sym typeface="Google Sans Flex"/>
              </a:rPr>
              <a:t>71% sure</a:t>
            </a:r>
          </a:p>
        </p:txBody>
      </p:sp>
      <p:sp>
        <p:nvSpPr>
          <p:cNvPr id="131" name="TextBox 130"/>
          <p:cNvSpPr txBox="1"/>
          <p:nvPr/>
        </p:nvSpPr>
        <p:spPr>
          <a:xfrm>
            <a:off x="7360920" y="3108959"/>
            <a:ext cx="1325880" cy="237744"/>
          </a:xfrm>
          <a:prstGeom prst="rect">
            <a:avLst/>
          </a:prstGeom>
          <a:noFill/>
        </p:spPr>
        <p:txBody>
          <a:bodyPr wrap="square" lIns="36576" rIns="36576" tIns="27432" bIns="27432" anchor="t">
            <a:spAutoFit/>
          </a:bodyPr>
          <a:lstStyle/>
          <a:p>
            <a:pPr algn="l">
              <a:spcAft>
                <a:spcPts val="0"/>
              </a:spcAft>
              <a:buNone/>
            </a:pPr>
            <a:r>
              <a:rPr sz="1100">
                <a:solidFill>
                  <a:srgbClr val="B06000"/>
                </a:solidFill>
                <a:latin typeface="Google Sans Flex SemiBold"/>
                <a:ea typeface="Google Sans Flex SemiBold"/>
                <a:cs typeface="Google Sans Flex SemiBold"/>
                <a:sym typeface="Google Sans Flex SemiBold"/>
              </a:rPr>
              <a:t>to review</a:t>
            </a:r>
          </a:p>
        </p:txBody>
      </p:sp>
      <p:sp>
        <p:nvSpPr>
          <p:cNvPr id="132" name="Rounded Rectangle 131"/>
          <p:cNvSpPr/>
          <p:nvPr/>
        </p:nvSpPr>
        <p:spPr>
          <a:xfrm>
            <a:off x="4800600" y="3474720"/>
            <a:ext cx="3931920" cy="7772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892040" y="3520439"/>
            <a:ext cx="2377440" cy="237744"/>
          </a:xfrm>
          <a:prstGeom prst="rect">
            <a:avLst/>
          </a:prstGeom>
          <a:noFill/>
        </p:spPr>
        <p:txBody>
          <a:bodyPr wrap="square" lIns="36576" rIns="36576" tIns="27432" bIns="27432" anchor="t">
            <a:spAutoFit/>
          </a:bodyPr>
          <a:lstStyle/>
          <a:p>
            <a:pPr algn="l">
              <a:spcAft>
                <a:spcPts val="0"/>
              </a:spcAft>
              <a:buNone/>
            </a:pPr>
            <a:r>
              <a:rPr sz="1100">
                <a:solidFill>
                  <a:srgbClr val="5F6368"/>
                </a:solidFill>
                <a:latin typeface="Google Sans Flex"/>
                <a:ea typeface="Google Sans Flex"/>
                <a:cs typeface="Google Sans Flex"/>
                <a:sym typeface="Google Sans Flex"/>
              </a:rPr>
              <a:t>call 1031 · WhatsApp</a:t>
            </a:r>
          </a:p>
        </p:txBody>
      </p:sp>
      <p:sp>
        <p:nvSpPr>
          <p:cNvPr id="134" name="TextBox 133"/>
          <p:cNvSpPr txBox="1"/>
          <p:nvPr/>
        </p:nvSpPr>
        <p:spPr>
          <a:xfrm>
            <a:off x="4892040" y="3776472"/>
            <a:ext cx="2377440" cy="438912"/>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Purchase intent: </a:t>
            </a:r>
            <a:r>
              <a:rPr sz="1200">
                <a:solidFill>
                  <a:srgbClr val="202124"/>
                </a:solidFill>
                <a:latin typeface="Google Sans Flex SemiBold"/>
                <a:ea typeface="Google Sans Flex SemiBold"/>
                <a:cs typeface="Google Sans Flex SemiBold"/>
                <a:sym typeface="Google Sans Flex SemiBold"/>
              </a:rPr>
              <a:t>High</a:t>
            </a:r>
          </a:p>
        </p:txBody>
      </p:sp>
      <p:sp>
        <p:nvSpPr>
          <p:cNvPr id="135" name="Rounded Rectangle 134"/>
          <p:cNvSpPr/>
          <p:nvPr/>
        </p:nvSpPr>
        <p:spPr>
          <a:xfrm>
            <a:off x="7360920" y="3867911"/>
            <a:ext cx="1234440" cy="91440"/>
          </a:xfrm>
          <a:prstGeom prst="roundRect">
            <a:avLst>
              <a:gd name="adj" fmla="val 50000"/>
            </a:avLst>
          </a:prstGeom>
          <a:solidFill>
            <a:srgbClr val="DA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7360920" y="3867911"/>
            <a:ext cx="1197406" cy="91440"/>
          </a:xfrm>
          <a:prstGeom prst="roundRect">
            <a:avLst>
              <a:gd name="adj" fmla="val 50000"/>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360920" y="3584448"/>
            <a:ext cx="1280160" cy="256032"/>
          </a:xfrm>
          <a:prstGeom prst="rect">
            <a:avLst/>
          </a:prstGeom>
          <a:noFill/>
        </p:spPr>
        <p:txBody>
          <a:bodyPr wrap="square" lIns="36576" rIns="36576" tIns="27432" bIns="27432" anchor="t">
            <a:spAutoFit/>
          </a:bodyPr>
          <a:lstStyle/>
          <a:p>
            <a:pPr algn="l">
              <a:spcAft>
                <a:spcPts val="0"/>
              </a:spcAft>
              <a:buNone/>
            </a:pPr>
            <a:r>
              <a:rPr sz="1100">
                <a:solidFill>
                  <a:srgbClr val="202124"/>
                </a:solidFill>
                <a:latin typeface="Google Sans Flex"/>
                <a:ea typeface="Google Sans Flex"/>
                <a:cs typeface="Google Sans Flex"/>
                <a:sym typeface="Google Sans Flex"/>
              </a:rPr>
              <a:t>97% sure</a:t>
            </a:r>
          </a:p>
        </p:txBody>
      </p:sp>
      <p:sp>
        <p:nvSpPr>
          <p:cNvPr id="138" name="TextBox 137"/>
          <p:cNvSpPr txBox="1"/>
          <p:nvPr/>
        </p:nvSpPr>
        <p:spPr>
          <a:xfrm>
            <a:off x="274320" y="4480560"/>
            <a:ext cx="4206240" cy="365760"/>
          </a:xfrm>
          <a:prstGeom prst="rect">
            <a:avLst/>
          </a:prstGeom>
          <a:noFill/>
        </p:spPr>
        <p:txBody>
          <a:bodyPr wrap="square" lIns="36576" rIns="36576" tIns="27432" bIns="27432" anchor="t">
            <a:spAutoFit/>
          </a:bodyPr>
          <a:lstStyle/>
          <a:p>
            <a:pPr algn="l">
              <a:spcAft>
                <a:spcPts val="0"/>
              </a:spcAft>
              <a:buNone/>
            </a:pPr>
            <a:r>
              <a:rPr sz="1100">
                <a:solidFill>
                  <a:srgbClr val="5F6368"/>
                </a:solidFill>
                <a:latin typeface="Google Sans Flex"/>
                <a:ea typeface="Google Sans Flex"/>
                <a:cs typeface="Google Sans Flex"/>
                <a:sym typeface="Google Sans Flex"/>
              </a:rPr>
              <a:t>Ask in plain English; answers cite the calls behind them</a:t>
            </a:r>
          </a:p>
        </p:txBody>
      </p:sp>
      <p:sp>
        <p:nvSpPr>
          <p:cNvPr id="139" name="TextBox 138"/>
          <p:cNvSpPr txBox="1"/>
          <p:nvPr/>
        </p:nvSpPr>
        <p:spPr>
          <a:xfrm>
            <a:off x="4663440" y="4480560"/>
            <a:ext cx="4206240" cy="365760"/>
          </a:xfrm>
          <a:prstGeom prst="rect">
            <a:avLst/>
          </a:prstGeom>
          <a:noFill/>
        </p:spPr>
        <p:txBody>
          <a:bodyPr wrap="square" lIns="36576" rIns="36576" tIns="27432" bIns="27432" anchor="t">
            <a:spAutoFit/>
          </a:bodyPr>
          <a:lstStyle/>
          <a:p>
            <a:pPr algn="l">
              <a:spcAft>
                <a:spcPts val="0"/>
              </a:spcAft>
              <a:buNone/>
            </a:pPr>
            <a:r>
              <a:rPr sz="1100">
                <a:solidFill>
                  <a:srgbClr val="5F6368"/>
                </a:solidFill>
                <a:latin typeface="Google Sans Flex"/>
                <a:ea typeface="Google Sans Flex"/>
                <a:cs typeface="Google Sans Flex"/>
                <a:sym typeface="Google Sans Flex"/>
              </a:rPr>
              <a:t>Every answer shows its confidence; uncertain ones are flagged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TextBox 111"/>
          <p:cNvSpPr txBox="1"/>
          <p:nvPr/>
        </p:nvSpPr>
        <p:spPr>
          <a:xfrm>
            <a:off x="274320" y="1261872"/>
            <a:ext cx="2743200" cy="256032"/>
          </a:xfrm>
          <a:prstGeom prst="rect">
            <a:avLst/>
          </a:prstGeom>
          <a:noFill/>
        </p:spPr>
        <p:txBody>
          <a:bodyPr wrap="square" lIns="36576" rIns="36576" tIns="27432" bIns="27432" anchor="t">
            <a:spAutoFit/>
          </a:bodyPr>
          <a:lstStyle/>
          <a:p>
            <a:pPr algn="l">
              <a:spcAft>
                <a:spcPts val="0"/>
              </a:spcAft>
              <a:buNone/>
            </a:pPr>
            <a:r>
              <a:rPr sz="1100">
                <a:solidFill>
                  <a:srgbClr val="1A73E8"/>
                </a:solidFill>
                <a:latin typeface="Google Sans Flex SemiBold"/>
                <a:ea typeface="Google Sans Flex SemiBold"/>
                <a:cs typeface="Google Sans Flex SemiBold"/>
                <a:sym typeface="Google Sans Flex SemiBold"/>
              </a:rPr>
              <a:t>Google Cloud + Firebase</a:t>
            </a:r>
          </a:p>
        </p:txBody>
      </p:sp>
      <p:sp>
        <p:nvSpPr>
          <p:cNvPr id="113" name="Rounded Rectangle 112"/>
          <p:cNvSpPr/>
          <p:nvPr/>
        </p:nvSpPr>
        <p:spPr>
          <a:xfrm>
            <a:off x="274320" y="2606040"/>
            <a:ext cx="1188720" cy="822960"/>
          </a:xfrm>
          <a:prstGeom prst="roundRect">
            <a:avLst>
              <a:gd name="adj" fmla="val 6000"/>
            </a:avLst>
          </a:prstGeom>
          <a:solidFill>
            <a:srgbClr val="F1F3F4"/>
          </a:solidFill>
          <a:ln w="15875">
            <a:solidFill>
              <a:srgbClr val="5F636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Web app</a:t>
            </a:r>
          </a:p>
          <a:p>
            <a:pPr algn="ctr">
              <a:spcAft>
                <a:spcPts val="0"/>
              </a:spcAft>
              <a:buNone/>
            </a:pPr>
            <a:r>
              <a:rPr sz="1000">
                <a:solidFill>
                  <a:srgbClr val="5F6368"/>
                </a:solidFill>
                <a:latin typeface="Google Sans Flex"/>
                <a:ea typeface="Google Sans Flex"/>
                <a:cs typeface="Google Sans Flex"/>
                <a:sym typeface="Google Sans Flex"/>
              </a:rPr>
              <a:t>React 19 · Vite</a:t>
            </a:r>
          </a:p>
        </p:txBody>
      </p:sp>
      <p:sp>
        <p:nvSpPr>
          <p:cNvPr id="114" name="Rounded Rectangle 113"/>
          <p:cNvSpPr/>
          <p:nvPr/>
        </p:nvSpPr>
        <p:spPr>
          <a:xfrm>
            <a:off x="1828800" y="2606040"/>
            <a:ext cx="1600200" cy="822960"/>
          </a:xfrm>
          <a:prstGeom prst="roundRect">
            <a:avLst>
              <a:gd name="adj" fmla="val 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Firebase Hosting</a:t>
            </a:r>
          </a:p>
          <a:p>
            <a:pPr algn="ctr">
              <a:spcAft>
                <a:spcPts val="0"/>
              </a:spcAft>
              <a:buNone/>
            </a:pPr>
            <a:r>
              <a:rPr sz="1000">
                <a:solidFill>
                  <a:srgbClr val="5F6368"/>
                </a:solidFill>
                <a:latin typeface="Google Sans Flex"/>
                <a:ea typeface="Google Sans Flex"/>
                <a:cs typeface="Google Sans Flex"/>
                <a:sym typeface="Google Sans Flex"/>
              </a:rPr>
              <a:t>/api rewritten to Cloud Run</a:t>
            </a:r>
          </a:p>
        </p:txBody>
      </p:sp>
      <p:sp>
        <p:nvSpPr>
          <p:cNvPr id="115" name="Rounded Rectangle 114"/>
          <p:cNvSpPr/>
          <p:nvPr/>
        </p:nvSpPr>
        <p:spPr>
          <a:xfrm>
            <a:off x="3931920" y="1417320"/>
            <a:ext cx="1783080" cy="640080"/>
          </a:xfrm>
          <a:prstGeom prst="roundRect">
            <a:avLst>
              <a:gd name="adj" fmla="val 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Firebase Auth</a:t>
            </a:r>
          </a:p>
          <a:p>
            <a:pPr algn="ctr">
              <a:spcAft>
                <a:spcPts val="0"/>
              </a:spcAft>
              <a:buNone/>
            </a:pPr>
            <a:r>
              <a:rPr sz="1000">
                <a:solidFill>
                  <a:srgbClr val="5F6368"/>
                </a:solidFill>
                <a:latin typeface="Google Sans Flex"/>
                <a:ea typeface="Google Sans Flex"/>
                <a:cs typeface="Google Sans Flex"/>
                <a:sym typeface="Google Sans Flex"/>
              </a:rPr>
              <a:t>Google sign-in</a:t>
            </a:r>
          </a:p>
        </p:txBody>
      </p:sp>
      <p:sp>
        <p:nvSpPr>
          <p:cNvPr id="116" name="Rounded Rectangle 115"/>
          <p:cNvSpPr/>
          <p:nvPr/>
        </p:nvSpPr>
        <p:spPr>
          <a:xfrm>
            <a:off x="3931920" y="2514600"/>
            <a:ext cx="1783080" cy="1005840"/>
          </a:xfrm>
          <a:prstGeom prst="roundRect">
            <a:avLst>
              <a:gd name="adj" fmla="val 6000"/>
            </a:avLst>
          </a:prstGeom>
          <a:solidFill>
            <a:srgbClr val="1A73E8"/>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Cloud Run</a:t>
            </a:r>
          </a:p>
          <a:p>
            <a:pPr algn="ctr">
              <a:spcAft>
                <a:spcPts val="0"/>
              </a:spcAft>
              <a:buNone/>
            </a:pPr>
            <a:r>
              <a:rPr sz="1000">
                <a:solidFill>
                  <a:srgbClr val="FFFFFF"/>
                </a:solidFill>
                <a:latin typeface="Google Sans Flex"/>
                <a:ea typeface="Google Sans Flex"/>
                <a:cs typeface="Google Sans Flex"/>
                <a:sym typeface="Google Sans Flex"/>
              </a:rPr>
              <a:t>FastAPI API · asia-south1 · scales to zero, max 5</a:t>
            </a:r>
          </a:p>
        </p:txBody>
      </p:sp>
      <p:sp>
        <p:nvSpPr>
          <p:cNvPr id="117" name="Rounded Rectangle 116"/>
          <p:cNvSpPr/>
          <p:nvPr/>
        </p:nvSpPr>
        <p:spPr>
          <a:xfrm>
            <a:off x="3931920" y="4023360"/>
            <a:ext cx="1783080" cy="685800"/>
          </a:xfrm>
          <a:prstGeom prst="roundRect">
            <a:avLst>
              <a:gd name="adj" fmla="val 6000"/>
            </a:avLst>
          </a:prstGeom>
          <a:solidFill>
            <a:srgbClr val="FFFFFF"/>
          </a:solidFill>
          <a:ln w="15875">
            <a:solidFill>
              <a:srgbClr val="2021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TypeSafe Jev</a:t>
            </a:r>
          </a:p>
          <a:p>
            <a:pPr algn="ctr">
              <a:spcAft>
                <a:spcPts val="0"/>
              </a:spcAft>
              <a:buNone/>
            </a:pPr>
            <a:r>
              <a:rPr sz="1000">
                <a:solidFill>
                  <a:srgbClr val="5F6368"/>
                </a:solidFill>
                <a:latin typeface="Google Sans Flex"/>
                <a:ea typeface="Google Sans Flex"/>
                <a:cs typeface="Google Sans Flex"/>
                <a:sym typeface="Google Sans Flex"/>
              </a:rPr>
              <a:t>external · jev-1.13.0 signals</a:t>
            </a:r>
          </a:p>
        </p:txBody>
      </p:sp>
      <p:sp>
        <p:nvSpPr>
          <p:cNvPr id="118" name="Rounded Rectangle 117"/>
          <p:cNvSpPr/>
          <p:nvPr/>
        </p:nvSpPr>
        <p:spPr>
          <a:xfrm>
            <a:off x="6492240" y="1325880"/>
            <a:ext cx="2377440" cy="566928"/>
          </a:xfrm>
          <a:prstGeom prst="roundRect">
            <a:avLst>
              <a:gd name="adj" fmla="val 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Firestore</a:t>
            </a:r>
          </a:p>
          <a:p>
            <a:pPr algn="ctr">
              <a:spcAft>
                <a:spcPts val="0"/>
              </a:spcAft>
              <a:buNone/>
            </a:pPr>
            <a:r>
              <a:rPr sz="1000">
                <a:solidFill>
                  <a:srgbClr val="5F6368"/>
                </a:solidFill>
                <a:latin typeface="Google Sans Flex"/>
                <a:ea typeface="Google Sans Flex"/>
                <a:cs typeface="Google Sans Flex"/>
                <a:sym typeface="Google Sans Flex"/>
              </a:rPr>
              <a:t>all records</a:t>
            </a:r>
          </a:p>
        </p:txBody>
      </p:sp>
      <p:sp>
        <p:nvSpPr>
          <p:cNvPr id="119" name="Rounded Rectangle 118"/>
          <p:cNvSpPr/>
          <p:nvPr/>
        </p:nvSpPr>
        <p:spPr>
          <a:xfrm>
            <a:off x="6492240" y="2011680"/>
            <a:ext cx="2377440" cy="566928"/>
          </a:xfrm>
          <a:prstGeom prst="roundRect">
            <a:avLst>
              <a:gd name="adj" fmla="val 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Cloud Tasks</a:t>
            </a:r>
          </a:p>
          <a:p>
            <a:pPr algn="ctr">
              <a:spcAft>
                <a:spcPts val="0"/>
              </a:spcAft>
              <a:buNone/>
            </a:pPr>
            <a:r>
              <a:rPr sz="1000">
                <a:solidFill>
                  <a:srgbClr val="5F6368"/>
                </a:solidFill>
                <a:latin typeface="Google Sans Flex"/>
                <a:ea typeface="Google Sans Flex"/>
                <a:cs typeface="Google Sans Flex"/>
                <a:sym typeface="Google Sans Flex"/>
              </a:rPr>
              <a:t>one task per call, OIDC-verified</a:t>
            </a:r>
          </a:p>
        </p:txBody>
      </p:sp>
      <p:sp>
        <p:nvSpPr>
          <p:cNvPr id="120" name="Rounded Rectangle 119"/>
          <p:cNvSpPr/>
          <p:nvPr/>
        </p:nvSpPr>
        <p:spPr>
          <a:xfrm>
            <a:off x="6492240" y="2697480"/>
            <a:ext cx="2377440" cy="566928"/>
          </a:xfrm>
          <a:prstGeom prst="roundRect">
            <a:avLst>
              <a:gd name="adj" fmla="val 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Cloud Storage</a:t>
            </a:r>
          </a:p>
          <a:p>
            <a:pPr algn="ctr">
              <a:spcAft>
                <a:spcPts val="0"/>
              </a:spcAft>
              <a:buNone/>
            </a:pPr>
            <a:r>
              <a:rPr sz="1000">
                <a:solidFill>
                  <a:srgbClr val="5F6368"/>
                </a:solidFill>
                <a:latin typeface="Google Sans Flex"/>
                <a:ea typeface="Google Sans Flex"/>
                <a:cs typeface="Google Sans Flex"/>
                <a:sym typeface="Google Sans Flex"/>
              </a:rPr>
              <a:t>call recordings</a:t>
            </a:r>
          </a:p>
        </p:txBody>
      </p:sp>
      <p:sp>
        <p:nvSpPr>
          <p:cNvPr id="121" name="Rounded Rectangle 120"/>
          <p:cNvSpPr/>
          <p:nvPr/>
        </p:nvSpPr>
        <p:spPr>
          <a:xfrm>
            <a:off x="6492240" y="3383280"/>
            <a:ext cx="2377440" cy="566928"/>
          </a:xfrm>
          <a:prstGeom prst="roundRect">
            <a:avLst>
              <a:gd name="adj" fmla="val 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Vertex AI Gemini</a:t>
            </a:r>
          </a:p>
          <a:p>
            <a:pPr algn="ctr">
              <a:spcAft>
                <a:spcPts val="0"/>
              </a:spcAft>
              <a:buNone/>
            </a:pPr>
            <a:r>
              <a:rPr sz="1000">
                <a:solidFill>
                  <a:srgbClr val="5F6368"/>
                </a:solidFill>
                <a:latin typeface="Google Sans Flex"/>
                <a:ea typeface="Google Sans Flex"/>
                <a:cs typeface="Google Sans Flex"/>
                <a:sym typeface="Google Sans Flex"/>
              </a:rPr>
              <a:t>transcription, Ask, 3 tiers</a:t>
            </a:r>
          </a:p>
        </p:txBody>
      </p:sp>
      <p:sp>
        <p:nvSpPr>
          <p:cNvPr id="122" name="Rounded Rectangle 121"/>
          <p:cNvSpPr/>
          <p:nvPr/>
        </p:nvSpPr>
        <p:spPr>
          <a:xfrm>
            <a:off x="6492240" y="4069080"/>
            <a:ext cx="2377440" cy="566928"/>
          </a:xfrm>
          <a:prstGeom prst="roundRect">
            <a:avLst>
              <a:gd name="adj" fmla="val 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200">
                <a:solidFill>
                  <a:srgbClr val="202124"/>
                </a:solidFill>
                <a:latin typeface="Google Sans Flex SemiBold"/>
                <a:ea typeface="Google Sans Flex SemiBold"/>
                <a:cs typeface="Google Sans Flex SemiBold"/>
                <a:sym typeface="Google Sans Flex SemiBold"/>
              </a:rPr>
              <a:t>Secret Manager</a:t>
            </a:r>
          </a:p>
          <a:p>
            <a:pPr algn="ctr">
              <a:spcAft>
                <a:spcPts val="0"/>
              </a:spcAft>
              <a:buNone/>
            </a:pPr>
            <a:r>
              <a:rPr sz="1000">
                <a:solidFill>
                  <a:srgbClr val="5F6368"/>
                </a:solidFill>
                <a:latin typeface="Google Sans Flex"/>
                <a:ea typeface="Google Sans Flex"/>
                <a:cs typeface="Google Sans Flex"/>
                <a:sym typeface="Google Sans Flex"/>
              </a:rPr>
              <a:t>keys and secrets</a:t>
            </a:r>
          </a:p>
        </p:txBody>
      </p:sp>
      <p:cxnSp>
        <p:nvCxnSpPr>
          <p:cNvPr id="123" name="Connector 122"/>
          <p:cNvCxnSpPr>
            <a:stCxn id="113" idx="3"/>
            <a:endCxn id="114" idx="1"/>
          </p:cNvCxnSpPr>
          <p:nvPr/>
        </p:nvCxnSpPr>
        <p:spPr>
          <a:xfrm flipV="1">
            <a:off x="1463040" y="3017520"/>
            <a:ext cx="365760" cy="0"/>
          </a:xfrm>
          <a:prstGeom prst="line">
            <a:avLst/>
          </a:prstGeom>
          <a:ln w="19050">
            <a:solidFill>
              <a:srgbClr val="5F6368"/>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Connector 123"/>
          <p:cNvCxnSpPr>
            <a:stCxn id="114" idx="3"/>
            <a:endCxn id="116" idx="1"/>
          </p:cNvCxnSpPr>
          <p:nvPr/>
        </p:nvCxnSpPr>
        <p:spPr>
          <a:xfrm flipV="1">
            <a:off x="3429000" y="3017520"/>
            <a:ext cx="502920" cy="0"/>
          </a:xfrm>
          <a:prstGeom prst="line">
            <a:avLst/>
          </a:prstGeom>
          <a:ln w="19050">
            <a:solidFill>
              <a:srgbClr val="5F6368"/>
            </a:solidFill>
            <a:tailEnd type="triangle"/>
          </a:ln>
        </p:spPr>
        <p:style>
          <a:lnRef idx="2">
            <a:schemeClr val="accent1"/>
          </a:lnRef>
          <a:fillRef idx="0">
            <a:schemeClr val="accent1"/>
          </a:fillRef>
          <a:effectRef idx="1">
            <a:schemeClr val="accent1"/>
          </a:effectRef>
          <a:fontRef idx="minor">
            <a:schemeClr val="tx1"/>
          </a:fontRef>
        </p:style>
      </p:cxnSp>
      <p:cxnSp>
        <p:nvCxnSpPr>
          <p:cNvPr id="125" name="Connector 124"/>
          <p:cNvCxnSpPr>
            <a:stCxn id="115" idx="2"/>
            <a:endCxn id="116" idx="0"/>
          </p:cNvCxnSpPr>
          <p:nvPr/>
        </p:nvCxnSpPr>
        <p:spPr>
          <a:xfrm flipH="1">
            <a:off x="4823460" y="2057400"/>
            <a:ext cx="0" cy="457200"/>
          </a:xfrm>
          <a:prstGeom prst="line">
            <a:avLst/>
          </a:prstGeom>
          <a:ln w="19050">
            <a:solidFill>
              <a:srgbClr val="5F6368"/>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Connector 125"/>
          <p:cNvCxnSpPr>
            <a:stCxn id="116" idx="2"/>
            <a:endCxn id="117" idx="0"/>
          </p:cNvCxnSpPr>
          <p:nvPr/>
        </p:nvCxnSpPr>
        <p:spPr>
          <a:xfrm flipH="1">
            <a:off x="4823460" y="3520440"/>
            <a:ext cx="0" cy="502920"/>
          </a:xfrm>
          <a:prstGeom prst="line">
            <a:avLst/>
          </a:prstGeom>
          <a:ln w="19050">
            <a:solidFill>
              <a:srgbClr val="202124"/>
            </a:solidFill>
            <a:tailEnd type="triangle"/>
          </a:ln>
        </p:spPr>
        <p:style>
          <a:lnRef idx="2">
            <a:schemeClr val="accent1"/>
          </a:lnRef>
          <a:fillRef idx="0">
            <a:schemeClr val="accent1"/>
          </a:fillRef>
          <a:effectRef idx="1">
            <a:schemeClr val="accent1"/>
          </a:effectRef>
          <a:fontRef idx="minor">
            <a:schemeClr val="tx1"/>
          </a:fontRef>
        </p:style>
      </p:cxnSp>
      <p:cxnSp>
        <p:nvCxnSpPr>
          <p:cNvPr id="127" name="Connector 126"/>
          <p:cNvCxnSpPr>
            <a:stCxn id="116" idx="3"/>
            <a:endCxn id="118" idx="1"/>
          </p:cNvCxnSpPr>
          <p:nvPr/>
        </p:nvCxnSpPr>
        <p:spPr>
          <a:xfrm flipV="1">
            <a:off x="5715000" y="1609344"/>
            <a:ext cx="777240" cy="1408176"/>
          </a:xfrm>
          <a:prstGeom prst="line">
            <a:avLst/>
          </a:prstGeom>
          <a:ln w="15875">
            <a:solidFill>
              <a:srgbClr val="1A73E8"/>
            </a:solidFill>
            <a:tailEnd type="triangle"/>
          </a:ln>
        </p:spPr>
        <p:style>
          <a:lnRef idx="2">
            <a:schemeClr val="accent1"/>
          </a:lnRef>
          <a:fillRef idx="0">
            <a:schemeClr val="accent1"/>
          </a:fillRef>
          <a:effectRef idx="1">
            <a:schemeClr val="accent1"/>
          </a:effectRef>
          <a:fontRef idx="minor">
            <a:schemeClr val="tx1"/>
          </a:fontRef>
        </p:style>
      </p:cxnSp>
      <p:cxnSp>
        <p:nvCxnSpPr>
          <p:cNvPr id="128" name="Connector 127"/>
          <p:cNvCxnSpPr>
            <a:stCxn id="116" idx="3"/>
            <a:endCxn id="119" idx="1"/>
          </p:cNvCxnSpPr>
          <p:nvPr/>
        </p:nvCxnSpPr>
        <p:spPr>
          <a:xfrm flipV="1">
            <a:off x="5715000" y="2295144"/>
            <a:ext cx="777240" cy="722376"/>
          </a:xfrm>
          <a:prstGeom prst="line">
            <a:avLst/>
          </a:prstGeom>
          <a:ln w="15875">
            <a:solidFill>
              <a:srgbClr val="1A73E8"/>
            </a:solidFill>
            <a:tailEnd type="triangle"/>
          </a:ln>
        </p:spPr>
        <p:style>
          <a:lnRef idx="2">
            <a:schemeClr val="accent1"/>
          </a:lnRef>
          <a:fillRef idx="0">
            <a:schemeClr val="accent1"/>
          </a:fillRef>
          <a:effectRef idx="1">
            <a:schemeClr val="accent1"/>
          </a:effectRef>
          <a:fontRef idx="minor">
            <a:schemeClr val="tx1"/>
          </a:fontRef>
        </p:style>
      </p:cxnSp>
      <p:cxnSp>
        <p:nvCxnSpPr>
          <p:cNvPr id="129" name="Connector 128"/>
          <p:cNvCxnSpPr>
            <a:stCxn id="116" idx="3"/>
            <a:endCxn id="120" idx="1"/>
          </p:cNvCxnSpPr>
          <p:nvPr/>
        </p:nvCxnSpPr>
        <p:spPr>
          <a:xfrm flipV="1">
            <a:off x="5715000" y="2980944"/>
            <a:ext cx="777240" cy="36576"/>
          </a:xfrm>
          <a:prstGeom prst="line">
            <a:avLst/>
          </a:prstGeom>
          <a:ln w="15875">
            <a:solidFill>
              <a:srgbClr val="1A73E8"/>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Connector 129"/>
          <p:cNvCxnSpPr>
            <a:stCxn id="116" idx="3"/>
            <a:endCxn id="121" idx="1"/>
          </p:cNvCxnSpPr>
          <p:nvPr/>
        </p:nvCxnSpPr>
        <p:spPr>
          <a:xfrm>
            <a:off x="5715000" y="3017520"/>
            <a:ext cx="777240" cy="649224"/>
          </a:xfrm>
          <a:prstGeom prst="line">
            <a:avLst/>
          </a:prstGeom>
          <a:ln w="15875">
            <a:solidFill>
              <a:srgbClr val="1A73E8"/>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a:stCxn id="116" idx="3"/>
            <a:endCxn id="122" idx="1"/>
          </p:cNvCxnSpPr>
          <p:nvPr/>
        </p:nvCxnSpPr>
        <p:spPr>
          <a:xfrm>
            <a:off x="5715000" y="3017520"/>
            <a:ext cx="777240" cy="1335024"/>
          </a:xfrm>
          <a:prstGeom prst="line">
            <a:avLst/>
          </a:prstGeom>
          <a:ln w="15875">
            <a:solidFill>
              <a:srgbClr val="1A73E8"/>
            </a:solidFill>
            <a:tailEnd type="triangle"/>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274320" y="3749039"/>
            <a:ext cx="3383280" cy="1005840"/>
          </a:xfrm>
          <a:prstGeom prst="rect">
            <a:avLst/>
          </a:prstGeom>
          <a:noFill/>
        </p:spPr>
        <p:txBody>
          <a:bodyPr wrap="square" lIns="36576" rIns="36576" tIns="27432" bIns="27432" anchor="t">
            <a:spAutoFit/>
          </a:bodyPr>
          <a:lstStyle/>
          <a:p>
            <a:pPr algn="l">
              <a:spcAft>
                <a:spcPts val="0"/>
              </a:spcAft>
              <a:buNone/>
            </a:pPr>
            <a:r>
              <a:rPr sz="1100">
                <a:solidFill>
                  <a:srgbClr val="5F6368"/>
                </a:solidFill>
                <a:latin typeface="Google Sans Flex"/>
                <a:ea typeface="Google Sans Flex"/>
                <a:cs typeface="Google Sans Flex"/>
                <a:sym typeface="Google Sans Flex"/>
              </a:rPr>
              <a:t>Flow: upload → Cloud Storage → Cloud Tasks queues one task per call → Cloud Run worker calls Gemini (transcribe) and Jev (answer) → results in Firestore.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274320" y="1280160"/>
            <a:ext cx="4297680" cy="347472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11480" y="1344168"/>
            <a:ext cx="4023360" cy="292608"/>
          </a:xfrm>
          <a:prstGeom prst="rect">
            <a:avLst/>
          </a:prstGeom>
          <a:noFill/>
        </p:spPr>
        <p:txBody>
          <a:bodyPr wrap="square" lIns="36576" rIns="36576" tIns="27432" bIns="27432" anchor="t">
            <a:spAutoFit/>
          </a:bodyPr>
          <a:lstStyle/>
          <a:p>
            <a:pPr algn="l">
              <a:spcAft>
                <a:spcPts val="0"/>
              </a:spcAft>
              <a:buNone/>
            </a:pPr>
            <a:r>
              <a:rPr sz="1400">
                <a:solidFill>
                  <a:srgbClr val="1A73E8"/>
                </a:solidFill>
                <a:latin typeface="Google Sans Flex SemiBold"/>
                <a:ea typeface="Google Sans Flex SemiBold"/>
                <a:cs typeface="Google Sans Flex SemiBold"/>
                <a:sym typeface="Google Sans Flex SemiBold"/>
              </a:rPr>
              <a:t>Google Cloud</a:t>
            </a:r>
          </a:p>
        </p:txBody>
      </p:sp>
      <p:sp>
        <p:nvSpPr>
          <p:cNvPr id="122" name="Rounded Rectangle 121"/>
          <p:cNvSpPr/>
          <p:nvPr/>
        </p:nvSpPr>
        <p:spPr>
          <a:xfrm>
            <a:off x="411480" y="1737360"/>
            <a:ext cx="1965960" cy="548640"/>
          </a:xfrm>
          <a:prstGeom prst="roundRect">
            <a:avLst>
              <a:gd name="adj" fmla="val 15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200">
                <a:solidFill>
                  <a:srgbClr val="202124"/>
                </a:solidFill>
                <a:latin typeface="Google Sans Flex Medium"/>
                <a:ea typeface="Google Sans Flex Medium"/>
                <a:cs typeface="Google Sans Flex Medium"/>
                <a:sym typeface="Google Sans Flex Medium"/>
              </a:rPr>
              <a:t>Gemini on Vertex AI</a:t>
            </a:r>
          </a:p>
        </p:txBody>
      </p:sp>
      <p:sp>
        <p:nvSpPr>
          <p:cNvPr id="123" name="Rounded Rectangle 122"/>
          <p:cNvSpPr/>
          <p:nvPr/>
        </p:nvSpPr>
        <p:spPr>
          <a:xfrm>
            <a:off x="2468880" y="1737360"/>
            <a:ext cx="1965960" cy="548640"/>
          </a:xfrm>
          <a:prstGeom prst="roundRect">
            <a:avLst>
              <a:gd name="adj" fmla="val 15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200">
                <a:solidFill>
                  <a:srgbClr val="202124"/>
                </a:solidFill>
                <a:latin typeface="Google Sans Flex Medium"/>
                <a:ea typeface="Google Sans Flex Medium"/>
                <a:cs typeface="Google Sans Flex Medium"/>
                <a:sym typeface="Google Sans Flex Medium"/>
              </a:rPr>
              <a:t>Cloud Run</a:t>
            </a:r>
          </a:p>
        </p:txBody>
      </p:sp>
      <p:sp>
        <p:nvSpPr>
          <p:cNvPr id="124" name="Rounded Rectangle 123"/>
          <p:cNvSpPr/>
          <p:nvPr/>
        </p:nvSpPr>
        <p:spPr>
          <a:xfrm>
            <a:off x="411480" y="2395728"/>
            <a:ext cx="1965960" cy="548640"/>
          </a:xfrm>
          <a:prstGeom prst="roundRect">
            <a:avLst>
              <a:gd name="adj" fmla="val 15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200">
                <a:solidFill>
                  <a:srgbClr val="202124"/>
                </a:solidFill>
                <a:latin typeface="Google Sans Flex Medium"/>
                <a:ea typeface="Google Sans Flex Medium"/>
                <a:cs typeface="Google Sans Flex Medium"/>
                <a:sym typeface="Google Sans Flex Medium"/>
              </a:rPr>
              <a:t>Firestore</a:t>
            </a:r>
          </a:p>
        </p:txBody>
      </p:sp>
      <p:sp>
        <p:nvSpPr>
          <p:cNvPr id="125" name="Rounded Rectangle 124"/>
          <p:cNvSpPr/>
          <p:nvPr/>
        </p:nvSpPr>
        <p:spPr>
          <a:xfrm>
            <a:off x="2468880" y="2395728"/>
            <a:ext cx="1965960" cy="548640"/>
          </a:xfrm>
          <a:prstGeom prst="roundRect">
            <a:avLst>
              <a:gd name="adj" fmla="val 15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200">
                <a:solidFill>
                  <a:srgbClr val="202124"/>
                </a:solidFill>
                <a:latin typeface="Google Sans Flex Medium"/>
                <a:ea typeface="Google Sans Flex Medium"/>
                <a:cs typeface="Google Sans Flex Medium"/>
                <a:sym typeface="Google Sans Flex Medium"/>
              </a:rPr>
              <a:t>Cloud Tasks</a:t>
            </a:r>
          </a:p>
        </p:txBody>
      </p:sp>
      <p:sp>
        <p:nvSpPr>
          <p:cNvPr id="126" name="Rounded Rectangle 125"/>
          <p:cNvSpPr/>
          <p:nvPr/>
        </p:nvSpPr>
        <p:spPr>
          <a:xfrm>
            <a:off x="411480" y="3054096"/>
            <a:ext cx="1965960" cy="548640"/>
          </a:xfrm>
          <a:prstGeom prst="roundRect">
            <a:avLst>
              <a:gd name="adj" fmla="val 15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200">
                <a:solidFill>
                  <a:srgbClr val="202124"/>
                </a:solidFill>
                <a:latin typeface="Google Sans Flex Medium"/>
                <a:ea typeface="Google Sans Flex Medium"/>
                <a:cs typeface="Google Sans Flex Medium"/>
                <a:sym typeface="Google Sans Flex Medium"/>
              </a:rPr>
              <a:t>Cloud Storage</a:t>
            </a:r>
          </a:p>
        </p:txBody>
      </p:sp>
      <p:sp>
        <p:nvSpPr>
          <p:cNvPr id="127" name="Rounded Rectangle 126"/>
          <p:cNvSpPr/>
          <p:nvPr/>
        </p:nvSpPr>
        <p:spPr>
          <a:xfrm>
            <a:off x="2468880" y="3054096"/>
            <a:ext cx="1965960" cy="548640"/>
          </a:xfrm>
          <a:prstGeom prst="roundRect">
            <a:avLst>
              <a:gd name="adj" fmla="val 15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200">
                <a:solidFill>
                  <a:srgbClr val="202124"/>
                </a:solidFill>
                <a:latin typeface="Google Sans Flex Medium"/>
                <a:ea typeface="Google Sans Flex Medium"/>
                <a:cs typeface="Google Sans Flex Medium"/>
                <a:sym typeface="Google Sans Flex Medium"/>
              </a:rPr>
              <a:t>Firebase Authentication</a:t>
            </a:r>
          </a:p>
        </p:txBody>
      </p:sp>
      <p:sp>
        <p:nvSpPr>
          <p:cNvPr id="128" name="Rounded Rectangle 127"/>
          <p:cNvSpPr/>
          <p:nvPr/>
        </p:nvSpPr>
        <p:spPr>
          <a:xfrm>
            <a:off x="411480" y="3712464"/>
            <a:ext cx="1965960" cy="548640"/>
          </a:xfrm>
          <a:prstGeom prst="roundRect">
            <a:avLst>
              <a:gd name="adj" fmla="val 15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200">
                <a:solidFill>
                  <a:srgbClr val="202124"/>
                </a:solidFill>
                <a:latin typeface="Google Sans Flex Medium"/>
                <a:ea typeface="Google Sans Flex Medium"/>
                <a:cs typeface="Google Sans Flex Medium"/>
                <a:sym typeface="Google Sans Flex Medium"/>
              </a:rPr>
              <a:t>Firebase Hosting</a:t>
            </a:r>
          </a:p>
        </p:txBody>
      </p:sp>
      <p:sp>
        <p:nvSpPr>
          <p:cNvPr id="129" name="Rounded Rectangle 128"/>
          <p:cNvSpPr/>
          <p:nvPr/>
        </p:nvSpPr>
        <p:spPr>
          <a:xfrm>
            <a:off x="2468880" y="3712464"/>
            <a:ext cx="1965960" cy="548640"/>
          </a:xfrm>
          <a:prstGeom prst="roundRect">
            <a:avLst>
              <a:gd name="adj" fmla="val 15000"/>
            </a:avLst>
          </a:prstGeom>
          <a:solidFill>
            <a:srgbClr val="FFFFFF"/>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buNone/>
            </a:pPr>
            <a:r>
              <a:rPr sz="1200">
                <a:solidFill>
                  <a:srgbClr val="202124"/>
                </a:solidFill>
                <a:latin typeface="Google Sans Flex Medium"/>
                <a:ea typeface="Google Sans Flex Medium"/>
                <a:cs typeface="Google Sans Flex Medium"/>
                <a:sym typeface="Google Sans Flex Medium"/>
              </a:rPr>
              <a:t>Secret Manager</a:t>
            </a:r>
          </a:p>
        </p:txBody>
      </p:sp>
      <p:sp>
        <p:nvSpPr>
          <p:cNvPr id="130" name="Rounded Rectangle 129"/>
          <p:cNvSpPr/>
          <p:nvPr/>
        </p:nvSpPr>
        <p:spPr>
          <a:xfrm>
            <a:off x="4846320" y="1280160"/>
            <a:ext cx="4023360" cy="141732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956048" y="1325880"/>
            <a:ext cx="3749039" cy="274320"/>
          </a:xfrm>
          <a:prstGeom prst="rect">
            <a:avLst/>
          </a:prstGeom>
          <a:noFill/>
        </p:spPr>
        <p:txBody>
          <a:bodyPr wrap="square" lIns="36576" rIns="36576" tIns="27432" bIns="27432" anchor="t">
            <a:spAutoFit/>
          </a:bodyPr>
          <a:lstStyle/>
          <a:p>
            <a:pPr algn="l">
              <a:spcAft>
                <a:spcPts val="0"/>
              </a:spcAft>
              <a:buNone/>
            </a:pPr>
            <a:r>
              <a:rPr sz="1300">
                <a:solidFill>
                  <a:srgbClr val="188038"/>
                </a:solidFill>
                <a:latin typeface="Google Sans Flex SemiBold"/>
                <a:ea typeface="Google Sans Flex SemiBold"/>
                <a:cs typeface="Google Sans Flex SemiBold"/>
                <a:sym typeface="Google Sans Flex SemiBold"/>
              </a:rPr>
              <a:t>Models</a:t>
            </a:r>
          </a:p>
        </p:txBody>
      </p:sp>
      <p:sp>
        <p:nvSpPr>
          <p:cNvPr id="132" name="TextBox 131"/>
          <p:cNvSpPr txBox="1"/>
          <p:nvPr/>
        </p:nvSpPr>
        <p:spPr>
          <a:xfrm>
            <a:off x="4956048" y="1618488"/>
            <a:ext cx="3794760" cy="1051560"/>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TypeSafe Jev (jev-1.13.0): signals. Gemini 3.8 Flash: standard + transcription; 3.5 Flash-Lite: simple; 3.1 Pro preview: complex</a:t>
            </a:r>
          </a:p>
        </p:txBody>
      </p:sp>
      <p:sp>
        <p:nvSpPr>
          <p:cNvPr id="133" name="Rounded Rectangle 132"/>
          <p:cNvSpPr/>
          <p:nvPr/>
        </p:nvSpPr>
        <p:spPr>
          <a:xfrm>
            <a:off x="4846320" y="2834640"/>
            <a:ext cx="4023360" cy="86868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956048" y="2880360"/>
            <a:ext cx="3749039" cy="274320"/>
          </a:xfrm>
          <a:prstGeom prst="rect">
            <a:avLst/>
          </a:prstGeom>
          <a:noFill/>
        </p:spPr>
        <p:txBody>
          <a:bodyPr wrap="square" lIns="36576" rIns="36576" tIns="27432" bIns="27432" anchor="t">
            <a:spAutoFit/>
          </a:bodyPr>
          <a:lstStyle/>
          <a:p>
            <a:pPr algn="l">
              <a:spcAft>
                <a:spcPts val="0"/>
              </a:spcAft>
              <a:buNone/>
            </a:pPr>
            <a:r>
              <a:rPr sz="1300">
                <a:solidFill>
                  <a:srgbClr val="B06000"/>
                </a:solidFill>
                <a:latin typeface="Google Sans Flex SemiBold"/>
                <a:ea typeface="Google Sans Flex SemiBold"/>
                <a:cs typeface="Google Sans Flex SemiBold"/>
                <a:sym typeface="Google Sans Flex SemiBold"/>
              </a:rPr>
              <a:t>Web app</a:t>
            </a:r>
          </a:p>
        </p:txBody>
      </p:sp>
      <p:sp>
        <p:nvSpPr>
          <p:cNvPr id="135" name="TextBox 134"/>
          <p:cNvSpPr txBox="1"/>
          <p:nvPr/>
        </p:nvSpPr>
        <p:spPr>
          <a:xfrm>
            <a:off x="4956048" y="3172968"/>
            <a:ext cx="3794760" cy="502919"/>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React 19 · Vite · Tailwind · TypeScript</a:t>
            </a:r>
          </a:p>
        </p:txBody>
      </p:sp>
      <p:sp>
        <p:nvSpPr>
          <p:cNvPr id="136" name="Rounded Rectangle 135"/>
          <p:cNvSpPr/>
          <p:nvPr/>
        </p:nvSpPr>
        <p:spPr>
          <a:xfrm>
            <a:off x="4846320" y="3840480"/>
            <a:ext cx="4023360" cy="868680"/>
          </a:xfrm>
          <a:prstGeom prst="roundRect">
            <a:avLst>
              <a:gd name="adj" fmla="val 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956048" y="3886200"/>
            <a:ext cx="3749039" cy="274320"/>
          </a:xfrm>
          <a:prstGeom prst="rect">
            <a:avLst/>
          </a:prstGeom>
          <a:noFill/>
        </p:spPr>
        <p:txBody>
          <a:bodyPr wrap="square" lIns="36576" rIns="36576" tIns="27432" bIns="27432" anchor="t">
            <a:spAutoFit/>
          </a:bodyPr>
          <a:lstStyle/>
          <a:p>
            <a:pPr algn="l">
              <a:spcAft>
                <a:spcPts val="0"/>
              </a:spcAft>
              <a:buNone/>
            </a:pPr>
            <a:r>
              <a:rPr sz="1300">
                <a:solidFill>
                  <a:srgbClr val="C5221F"/>
                </a:solidFill>
                <a:latin typeface="Google Sans Flex SemiBold"/>
                <a:ea typeface="Google Sans Flex SemiBold"/>
                <a:cs typeface="Google Sans Flex SemiBold"/>
                <a:sym typeface="Google Sans Flex SemiBold"/>
              </a:rPr>
              <a:t>Backend</a:t>
            </a:r>
          </a:p>
        </p:txBody>
      </p:sp>
      <p:sp>
        <p:nvSpPr>
          <p:cNvPr id="138" name="TextBox 137"/>
          <p:cNvSpPr txBox="1"/>
          <p:nvPr/>
        </p:nvSpPr>
        <p:spPr>
          <a:xfrm>
            <a:off x="4956048" y="4178808"/>
            <a:ext cx="3794760" cy="502919"/>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Python 3.12 · FastAPI · pydantic</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a:t>
            </a:r>
            <a:endParaRPr sz="1600">
              <a:latin typeface="Google Sans Flex Medium"/>
              <a:ea typeface="Google Sans Flex Medium"/>
              <a:cs typeface="Google Sans Flex Medium"/>
              <a:sym typeface="Google Sans Flex Medium"/>
            </a:endParaRPr>
          </a:p>
        </p:txBody>
      </p:sp>
      <p:graphicFrame>
        <p:nvGraphicFramePr>
          <p:cNvPr id="128" name="Chart 127"/>
          <p:cNvGraphicFramePr>
            <a:graphicFrameLocks noGrp="1"/>
          </p:cNvGraphicFramePr>
          <p:nvPr/>
        </p:nvGraphicFramePr>
        <p:xfrm>
          <a:off x="274320" y="1600200"/>
          <a:ext cx="4846320" cy="2788920"/>
        </p:xfrm>
        <a:graphic>
          <a:graphicData uri="http://schemas.openxmlformats.org/drawingml/2006/chart">
            <c:chart r:id="rId5"/>
          </a:graphicData>
        </a:graphic>
      </p:graphicFrame>
      <p:sp>
        <p:nvSpPr>
          <p:cNvPr id="129" name="TextBox 128"/>
          <p:cNvSpPr txBox="1"/>
          <p:nvPr/>
        </p:nvSpPr>
        <p:spPr>
          <a:xfrm>
            <a:off x="274320" y="1280160"/>
            <a:ext cx="4846320" cy="310896"/>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Analysing 1,000 calls, 5 signals each (est.)</a:t>
            </a:r>
          </a:p>
        </p:txBody>
      </p:sp>
      <p:sp>
        <p:nvSpPr>
          <p:cNvPr id="130" name="TextBox 129"/>
          <p:cNvSpPr txBox="1"/>
          <p:nvPr/>
        </p:nvSpPr>
        <p:spPr>
          <a:xfrm>
            <a:off x="274320" y="4434840"/>
            <a:ext cx="4846320" cy="365760"/>
          </a:xfrm>
          <a:prstGeom prst="rect">
            <a:avLst/>
          </a:prstGeom>
          <a:noFill/>
        </p:spPr>
        <p:txBody>
          <a:bodyPr wrap="square" lIns="36576" rIns="36576" tIns="27432" bIns="27432" anchor="t">
            <a:spAutoFit/>
          </a:bodyPr>
          <a:lstStyle/>
          <a:p>
            <a:pPr algn="l">
              <a:spcAft>
                <a:spcPts val="0"/>
              </a:spcAft>
              <a:buNone/>
            </a:pPr>
            <a:r>
              <a:rPr sz="1100">
                <a:solidFill>
                  <a:srgbClr val="5F6368"/>
                </a:solidFill>
                <a:latin typeface="Google Sans Flex"/>
                <a:ea typeface="Google Sans Flex"/>
                <a:cs typeface="Google Sans Flex"/>
                <a:sym typeface="Google Sans Flex"/>
              </a:rPr>
              <a:t>Same ~1,100-token call with ~150 output tokens on Gemini. List prices; estimates.</a:t>
            </a:r>
          </a:p>
        </p:txBody>
      </p:sp>
      <p:sp>
        <p:nvSpPr>
          <p:cNvPr id="131" name="Rounded Rectangle 130"/>
          <p:cNvSpPr/>
          <p:nvPr/>
        </p:nvSpPr>
        <p:spPr>
          <a:xfrm>
            <a:off x="5394960" y="1280160"/>
            <a:ext cx="3474720" cy="1078992"/>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532120" y="1353312"/>
            <a:ext cx="3200400" cy="457200"/>
          </a:xfrm>
          <a:prstGeom prst="rect">
            <a:avLst/>
          </a:prstGeom>
          <a:noFill/>
        </p:spPr>
        <p:txBody>
          <a:bodyPr wrap="square" lIns="36576" rIns="36576" tIns="27432" bIns="27432" anchor="ctr">
            <a:spAutoFit/>
          </a:bodyPr>
          <a:lstStyle/>
          <a:p>
            <a:pPr algn="l">
              <a:spcAft>
                <a:spcPts val="0"/>
              </a:spcAft>
              <a:buNone/>
            </a:pPr>
            <a:r>
              <a:rPr sz="2200">
                <a:solidFill>
                  <a:srgbClr val="1A73E8"/>
                </a:solidFill>
                <a:latin typeface="Google Sans Flex SemiBold"/>
                <a:ea typeface="Google Sans Flex SemiBold"/>
                <a:cs typeface="Google Sans Flex SemiBold"/>
                <a:sym typeface="Google Sans Flex SemiBold"/>
              </a:rPr>
              <a:t>≈ $0.00005</a:t>
            </a:r>
          </a:p>
        </p:txBody>
      </p:sp>
      <p:sp>
        <p:nvSpPr>
          <p:cNvPr id="133" name="TextBox 132"/>
          <p:cNvSpPr txBox="1"/>
          <p:nvPr/>
        </p:nvSpPr>
        <p:spPr>
          <a:xfrm>
            <a:off x="5532120" y="1847088"/>
            <a:ext cx="3200400" cy="475488"/>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per 5-signal call on Jev (~1,100 input tokens)</a:t>
            </a:r>
          </a:p>
        </p:txBody>
      </p:sp>
      <p:sp>
        <p:nvSpPr>
          <p:cNvPr id="134" name="Rounded Rectangle 133"/>
          <p:cNvSpPr/>
          <p:nvPr/>
        </p:nvSpPr>
        <p:spPr>
          <a:xfrm>
            <a:off x="5394960" y="2450591"/>
            <a:ext cx="3474720" cy="1078992"/>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532120" y="2523744"/>
            <a:ext cx="3200400" cy="457200"/>
          </a:xfrm>
          <a:prstGeom prst="rect">
            <a:avLst/>
          </a:prstGeom>
          <a:noFill/>
        </p:spPr>
        <p:txBody>
          <a:bodyPr wrap="square" lIns="36576" rIns="36576" tIns="27432" bIns="27432" anchor="ctr">
            <a:spAutoFit/>
          </a:bodyPr>
          <a:lstStyle/>
          <a:p>
            <a:pPr algn="l">
              <a:spcAft>
                <a:spcPts val="0"/>
              </a:spcAft>
              <a:buNone/>
            </a:pPr>
            <a:r>
              <a:rPr sz="2200">
                <a:solidFill>
                  <a:srgbClr val="188038"/>
                </a:solidFill>
                <a:latin typeface="Google Sans Flex SemiBold"/>
                <a:ea typeface="Google Sans Flex SemiBold"/>
                <a:cs typeface="Google Sans Flex SemiBold"/>
                <a:sym typeface="Google Sans Flex SemiBold"/>
              </a:rPr>
              <a:t>≈ $0.02</a:t>
            </a:r>
          </a:p>
        </p:txBody>
      </p:sp>
      <p:sp>
        <p:nvSpPr>
          <p:cNvPr id="136" name="TextBox 135"/>
          <p:cNvSpPr txBox="1"/>
          <p:nvPr/>
        </p:nvSpPr>
        <p:spPr>
          <a:xfrm>
            <a:off x="5532120" y="3017520"/>
            <a:ext cx="3200400" cy="475488"/>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to transcribe a 10-minute recording on Gemini 3.8 Flash</a:t>
            </a:r>
          </a:p>
        </p:txBody>
      </p:sp>
      <p:sp>
        <p:nvSpPr>
          <p:cNvPr id="137" name="Rounded Rectangle 136"/>
          <p:cNvSpPr/>
          <p:nvPr/>
        </p:nvSpPr>
        <p:spPr>
          <a:xfrm>
            <a:off x="5394960" y="3621024"/>
            <a:ext cx="3474720" cy="1078992"/>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532120" y="3694176"/>
            <a:ext cx="3200400" cy="457200"/>
          </a:xfrm>
          <a:prstGeom prst="rect">
            <a:avLst/>
          </a:prstGeom>
          <a:noFill/>
        </p:spPr>
        <p:txBody>
          <a:bodyPr wrap="square" lIns="36576" rIns="36576" tIns="27432" bIns="27432" anchor="ctr">
            <a:spAutoFit/>
          </a:bodyPr>
          <a:lstStyle/>
          <a:p>
            <a:pPr algn="l">
              <a:spcAft>
                <a:spcPts val="0"/>
              </a:spcAft>
              <a:buNone/>
            </a:pPr>
            <a:r>
              <a:rPr sz="2200">
                <a:solidFill>
                  <a:srgbClr val="B06000"/>
                </a:solidFill>
                <a:latin typeface="Google Sans Flex SemiBold"/>
                <a:ea typeface="Google Sans Flex SemiBold"/>
                <a:cs typeface="Google Sans Flex SemiBold"/>
                <a:sym typeface="Google Sans Flex SemiBold"/>
              </a:rPr>
              <a:t>≈ $0</a:t>
            </a:r>
          </a:p>
        </p:txBody>
      </p:sp>
      <p:sp>
        <p:nvSpPr>
          <p:cNvPr id="139" name="TextBox 138"/>
          <p:cNvSpPr txBox="1"/>
          <p:nvPr/>
        </p:nvSpPr>
        <p:spPr>
          <a:xfrm>
            <a:off x="5532120" y="4187952"/>
            <a:ext cx="3200400" cy="475488"/>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a:ea typeface="Google Sans Flex"/>
                <a:cs typeface="Google Sans Flex"/>
                <a:sym typeface="Google Sans Flex"/>
              </a:rPr>
              <a:t>Google Cloud infra at demo scale (free tiers)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landing.png"/>
          <p:cNvPicPr>
            <a:picLocks noChangeAspect="1"/>
          </p:cNvPicPr>
          <p:nvPr/>
        </p:nvPicPr>
        <p:blipFill>
          <a:blip r:embed="rId5"/>
          <a:stretch>
            <a:fillRect/>
          </a:stretch>
        </p:blipFill>
        <p:spPr>
          <a:xfrm>
            <a:off x="274320" y="1280160"/>
            <a:ext cx="2651760" cy="1657350"/>
          </a:xfrm>
          <a:prstGeom prst="rect">
            <a:avLst/>
          </a:prstGeom>
          <a:ln w="9525">
            <a:solidFill>
              <a:srgbClr val="DADCE0"/>
            </a:solidFill>
          </a:ln>
        </p:spPr>
      </p:pic>
      <p:sp>
        <p:nvSpPr>
          <p:cNvPr id="137" name="Rounded Rectangle 136"/>
          <p:cNvSpPr/>
          <p:nvPr/>
        </p:nvSpPr>
        <p:spPr>
          <a:xfrm>
            <a:off x="347472" y="2606039"/>
            <a:ext cx="1307592" cy="246888"/>
          </a:xfrm>
          <a:prstGeom prst="roundRect">
            <a:avLst>
              <a:gd name="adj" fmla="val 50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FFFFFF"/>
                </a:solidFill>
                <a:latin typeface="Google Sans Flex Medium"/>
                <a:ea typeface="Google Sans Flex Medium"/>
                <a:cs typeface="Google Sans Flex Medium"/>
                <a:sym typeface="Google Sans Flex Medium"/>
              </a:rPr>
              <a:t>Landing page</a:t>
            </a:r>
          </a:p>
        </p:txBody>
      </p:sp>
      <p:pic>
        <p:nvPicPr>
          <p:cNvPr id="138" name="Picture 137" descr="insights.png"/>
          <p:cNvPicPr>
            <a:picLocks noChangeAspect="1"/>
          </p:cNvPicPr>
          <p:nvPr/>
        </p:nvPicPr>
        <p:blipFill>
          <a:blip r:embed="rId6"/>
          <a:stretch>
            <a:fillRect/>
          </a:stretch>
        </p:blipFill>
        <p:spPr>
          <a:xfrm>
            <a:off x="3200400" y="1280160"/>
            <a:ext cx="2651760" cy="1657350"/>
          </a:xfrm>
          <a:prstGeom prst="rect">
            <a:avLst/>
          </a:prstGeom>
          <a:ln w="9525">
            <a:solidFill>
              <a:srgbClr val="DADCE0"/>
            </a:solidFill>
          </a:ln>
        </p:spPr>
      </p:pic>
      <p:sp>
        <p:nvSpPr>
          <p:cNvPr id="139" name="Rounded Rectangle 138"/>
          <p:cNvSpPr/>
          <p:nvPr/>
        </p:nvSpPr>
        <p:spPr>
          <a:xfrm>
            <a:off x="3273552" y="2606039"/>
            <a:ext cx="978407" cy="246888"/>
          </a:xfrm>
          <a:prstGeom prst="roundRect">
            <a:avLst>
              <a:gd name="adj" fmla="val 50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FFFFFF"/>
                </a:solidFill>
                <a:latin typeface="Google Sans Flex Medium"/>
                <a:ea typeface="Google Sans Flex Medium"/>
                <a:cs typeface="Google Sans Flex Medium"/>
                <a:sym typeface="Google Sans Flex Medium"/>
              </a:rPr>
              <a:t>Insights</a:t>
            </a:r>
          </a:p>
        </p:txBody>
      </p:sp>
      <p:pic>
        <p:nvPicPr>
          <p:cNvPr id="140" name="Picture 139" descr="results.png"/>
          <p:cNvPicPr>
            <a:picLocks noChangeAspect="1"/>
          </p:cNvPicPr>
          <p:nvPr/>
        </p:nvPicPr>
        <p:blipFill>
          <a:blip r:embed="rId7"/>
          <a:stretch>
            <a:fillRect/>
          </a:stretch>
        </p:blipFill>
        <p:spPr>
          <a:xfrm>
            <a:off x="6126480" y="1280160"/>
            <a:ext cx="2651760" cy="1657350"/>
          </a:xfrm>
          <a:prstGeom prst="rect">
            <a:avLst/>
          </a:prstGeom>
          <a:ln w="9525">
            <a:solidFill>
              <a:srgbClr val="DADCE0"/>
            </a:solidFill>
          </a:ln>
        </p:spPr>
      </p:pic>
      <p:sp>
        <p:nvSpPr>
          <p:cNvPr id="141" name="Rounded Rectangle 140"/>
          <p:cNvSpPr/>
          <p:nvPr/>
        </p:nvSpPr>
        <p:spPr>
          <a:xfrm>
            <a:off x="6199632" y="2606039"/>
            <a:ext cx="896112" cy="246888"/>
          </a:xfrm>
          <a:prstGeom prst="roundRect">
            <a:avLst>
              <a:gd name="adj" fmla="val 50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FFFFFF"/>
                </a:solidFill>
                <a:latin typeface="Google Sans Flex Medium"/>
                <a:ea typeface="Google Sans Flex Medium"/>
                <a:cs typeface="Google Sans Flex Medium"/>
                <a:sym typeface="Google Sans Flex Medium"/>
              </a:rPr>
              <a:t>Results</a:t>
            </a:r>
          </a:p>
        </p:txBody>
      </p:sp>
      <p:pic>
        <p:nvPicPr>
          <p:cNvPr id="142" name="Picture 141" descr="trackers.png"/>
          <p:cNvPicPr>
            <a:picLocks noChangeAspect="1"/>
          </p:cNvPicPr>
          <p:nvPr/>
        </p:nvPicPr>
        <p:blipFill>
          <a:blip r:embed="rId8"/>
          <a:stretch>
            <a:fillRect/>
          </a:stretch>
        </p:blipFill>
        <p:spPr>
          <a:xfrm>
            <a:off x="274320" y="3063239"/>
            <a:ext cx="2651760" cy="1657350"/>
          </a:xfrm>
          <a:prstGeom prst="rect">
            <a:avLst/>
          </a:prstGeom>
          <a:ln w="9525">
            <a:solidFill>
              <a:srgbClr val="DADCE0"/>
            </a:solidFill>
          </a:ln>
        </p:spPr>
      </p:pic>
      <p:sp>
        <p:nvSpPr>
          <p:cNvPr id="143" name="Rounded Rectangle 142"/>
          <p:cNvSpPr/>
          <p:nvPr/>
        </p:nvSpPr>
        <p:spPr>
          <a:xfrm>
            <a:off x="347472" y="4389120"/>
            <a:ext cx="978407" cy="246888"/>
          </a:xfrm>
          <a:prstGeom prst="roundRect">
            <a:avLst>
              <a:gd name="adj" fmla="val 50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FFFFFF"/>
                </a:solidFill>
                <a:latin typeface="Google Sans Flex Medium"/>
                <a:ea typeface="Google Sans Flex Medium"/>
                <a:cs typeface="Google Sans Flex Medium"/>
                <a:sym typeface="Google Sans Flex Medium"/>
              </a:rPr>
              <a:t>Trackers</a:t>
            </a:r>
          </a:p>
        </p:txBody>
      </p:sp>
      <p:pic>
        <p:nvPicPr>
          <p:cNvPr id="144" name="Picture 143" descr="call.png"/>
          <p:cNvPicPr>
            <a:picLocks noChangeAspect="1"/>
          </p:cNvPicPr>
          <p:nvPr/>
        </p:nvPicPr>
        <p:blipFill>
          <a:blip r:embed="rId9"/>
          <a:stretch>
            <a:fillRect/>
          </a:stretch>
        </p:blipFill>
        <p:spPr>
          <a:xfrm>
            <a:off x="3200400" y="3063239"/>
            <a:ext cx="2651760" cy="1657350"/>
          </a:xfrm>
          <a:prstGeom prst="rect">
            <a:avLst/>
          </a:prstGeom>
          <a:ln w="9525">
            <a:solidFill>
              <a:srgbClr val="DADCE0"/>
            </a:solidFill>
          </a:ln>
        </p:spPr>
      </p:pic>
      <p:sp>
        <p:nvSpPr>
          <p:cNvPr id="145" name="Rounded Rectangle 144"/>
          <p:cNvSpPr/>
          <p:nvPr/>
        </p:nvSpPr>
        <p:spPr>
          <a:xfrm>
            <a:off x="3273552" y="4389120"/>
            <a:ext cx="1225295" cy="246888"/>
          </a:xfrm>
          <a:prstGeom prst="roundRect">
            <a:avLst>
              <a:gd name="adj" fmla="val 50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spcAft>
                <a:spcPts val="0"/>
              </a:spcAft>
              <a:buNone/>
            </a:pPr>
            <a:r>
              <a:rPr sz="1100">
                <a:solidFill>
                  <a:srgbClr val="FFFFFF"/>
                </a:solidFill>
                <a:latin typeface="Google Sans Flex Medium"/>
                <a:ea typeface="Google Sans Flex Medium"/>
                <a:cs typeface="Google Sans Flex Medium"/>
                <a:sym typeface="Google Sans Flex Medium"/>
              </a:rPr>
              <a:t>Call detail</a:t>
            </a:r>
          </a:p>
        </p:txBody>
      </p:sp>
      <p:sp>
        <p:nvSpPr>
          <p:cNvPr id="146" name="Rounded Rectangle 145"/>
          <p:cNvSpPr/>
          <p:nvPr/>
        </p:nvSpPr>
        <p:spPr>
          <a:xfrm>
            <a:off x="6126480" y="3063240"/>
            <a:ext cx="2651760" cy="165735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236208" y="3127248"/>
            <a:ext cx="2432304" cy="1554480"/>
          </a:xfrm>
          <a:prstGeom prst="rect">
            <a:avLst/>
          </a:prstGeom>
          <a:noFill/>
        </p:spPr>
        <p:txBody>
          <a:bodyPr wrap="square" lIns="36576" rIns="36576" tIns="27432" bIns="27432" anchor="t">
            <a:spAutoFit/>
          </a:bodyPr>
          <a:lstStyle/>
          <a:p>
            <a:pPr algn="l">
              <a:spcAft>
                <a:spcPts val="400"/>
              </a:spcAft>
              <a:buNone/>
            </a:pPr>
            <a:r>
              <a:rPr sz="1100">
                <a:solidFill>
                  <a:srgbClr val="202124"/>
                </a:solidFill>
                <a:latin typeface="Google Sans Flex SemiBold"/>
                <a:ea typeface="Google Sans Flex SemiBold"/>
                <a:cs typeface="Google Sans Flex SemiBold"/>
                <a:sym typeface="Google Sans Flex SemiBold"/>
              </a:rPr>
              <a:t>Real screens from the running build</a:t>
            </a:r>
          </a:p>
          <a:p>
            <a:pPr algn="l">
              <a:spcAft>
                <a:spcPts val="0"/>
              </a:spcAft>
              <a:buNone/>
            </a:pPr>
            <a:r>
              <a:rPr sz="1100">
                <a:solidFill>
                  <a:srgbClr val="202124"/>
                </a:solidFill>
                <a:latin typeface="Google Sans Flex"/>
                <a:ea typeface="Google Sans Flex"/>
                <a:cs typeface="Google Sans Flex"/>
                <a:sym typeface="Google Sans Flex"/>
              </a:rPr>
              <a:t>Shown on a sample dataset (clinic appointment-booking calls). The same trackers carry over to retail signals such as returns, delivery and churn.</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 / benchmarking</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274320" y="1280160"/>
            <a:ext cx="2743200" cy="1170432"/>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384048" y="1325880"/>
            <a:ext cx="2523744" cy="457200"/>
          </a:xfrm>
          <a:prstGeom prst="rect">
            <a:avLst/>
          </a:prstGeom>
          <a:noFill/>
        </p:spPr>
        <p:txBody>
          <a:bodyPr wrap="square" lIns="36576" rIns="36576" tIns="27432" bIns="27432" anchor="ctr">
            <a:spAutoFit/>
          </a:bodyPr>
          <a:lstStyle/>
          <a:p>
            <a:pPr algn="l">
              <a:spcAft>
                <a:spcPts val="0"/>
              </a:spcAft>
              <a:buNone/>
            </a:pPr>
            <a:r>
              <a:rPr sz="2400">
                <a:solidFill>
                  <a:srgbClr val="1A73E8"/>
                </a:solidFill>
                <a:latin typeface="Google Sans Flex SemiBold"/>
                <a:ea typeface="Google Sans Flex SemiBold"/>
                <a:cs typeface="Google Sans Flex SemiBold"/>
                <a:sym typeface="Google Sans Flex SemiBold"/>
              </a:rPr>
              <a:t>25/25</a:t>
            </a:r>
          </a:p>
        </p:txBody>
      </p:sp>
      <p:sp>
        <p:nvSpPr>
          <p:cNvPr id="146" name="TextBox 145"/>
          <p:cNvSpPr txBox="1"/>
          <p:nvPr/>
        </p:nvSpPr>
        <p:spPr>
          <a:xfrm>
            <a:off x="384048" y="1801367"/>
            <a:ext cx="2523744" cy="621792"/>
          </a:xfrm>
          <a:prstGeom prst="rect">
            <a:avLst/>
          </a:prstGeom>
          <a:noFill/>
        </p:spPr>
        <p:txBody>
          <a:bodyPr wrap="square" lIns="36576" rIns="36576" tIns="27432" bIns="27432" anchor="t">
            <a:spAutoFit/>
          </a:bodyPr>
          <a:lstStyle/>
          <a:p>
            <a:pPr algn="l">
              <a:spcAft>
                <a:spcPts val="0"/>
              </a:spcAft>
              <a:buNone/>
            </a:pPr>
            <a:r>
              <a:rPr sz="1100">
                <a:solidFill>
                  <a:srgbClr val="202124"/>
                </a:solidFill>
                <a:latin typeface="Google Sans Flex"/>
                <a:ea typeface="Google Sans Flex"/>
                <a:cs typeface="Google Sans Flex"/>
                <a:sym typeface="Google Sans Flex"/>
              </a:rPr>
              <a:t>answers matched hand labels (100%): 5 sample calls × 5 signals, live Jev</a:t>
            </a:r>
          </a:p>
        </p:txBody>
      </p:sp>
      <p:sp>
        <p:nvSpPr>
          <p:cNvPr id="147" name="Rounded Rectangle 146"/>
          <p:cNvSpPr/>
          <p:nvPr/>
        </p:nvSpPr>
        <p:spPr>
          <a:xfrm>
            <a:off x="3200400" y="1280160"/>
            <a:ext cx="2743200" cy="1170432"/>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3310128" y="1325880"/>
            <a:ext cx="2523744" cy="457200"/>
          </a:xfrm>
          <a:prstGeom prst="rect">
            <a:avLst/>
          </a:prstGeom>
          <a:noFill/>
        </p:spPr>
        <p:txBody>
          <a:bodyPr wrap="square" lIns="36576" rIns="36576" tIns="27432" bIns="27432" anchor="ctr">
            <a:spAutoFit/>
          </a:bodyPr>
          <a:lstStyle/>
          <a:p>
            <a:pPr algn="l">
              <a:spcAft>
                <a:spcPts val="0"/>
              </a:spcAft>
              <a:buNone/>
            </a:pPr>
            <a:r>
              <a:rPr sz="2400">
                <a:solidFill>
                  <a:srgbClr val="188038"/>
                </a:solidFill>
                <a:latin typeface="Google Sans Flex SemiBold"/>
                <a:ea typeface="Google Sans Flex SemiBold"/>
                <a:cs typeface="Google Sans Flex SemiBold"/>
                <a:sym typeface="Google Sans Flex SemiBold"/>
              </a:rPr>
              <a:t>~6 s</a:t>
            </a:r>
          </a:p>
        </p:txBody>
      </p:sp>
      <p:sp>
        <p:nvSpPr>
          <p:cNvPr id="149" name="TextBox 148"/>
          <p:cNvSpPr txBox="1"/>
          <p:nvPr/>
        </p:nvSpPr>
        <p:spPr>
          <a:xfrm>
            <a:off x="3310128" y="1801367"/>
            <a:ext cx="2523744" cy="621792"/>
          </a:xfrm>
          <a:prstGeom prst="rect">
            <a:avLst/>
          </a:prstGeom>
          <a:noFill/>
        </p:spPr>
        <p:txBody>
          <a:bodyPr wrap="square" lIns="36576" rIns="36576" tIns="27432" bIns="27432" anchor="t">
            <a:spAutoFit/>
          </a:bodyPr>
          <a:lstStyle/>
          <a:p>
            <a:pPr algn="l">
              <a:spcAft>
                <a:spcPts val="0"/>
              </a:spcAft>
              <a:buNone/>
            </a:pPr>
            <a:r>
              <a:rPr sz="1100">
                <a:solidFill>
                  <a:srgbClr val="202124"/>
                </a:solidFill>
                <a:latin typeface="Google Sans Flex"/>
                <a:ea typeface="Google Sans Flex"/>
                <a:cs typeface="Google Sans Flex"/>
                <a:sym typeface="Google Sans Flex"/>
              </a:rPr>
              <a:t>to analyse 6 calls end to end</a:t>
            </a:r>
          </a:p>
        </p:txBody>
      </p:sp>
      <p:sp>
        <p:nvSpPr>
          <p:cNvPr id="150" name="Rounded Rectangle 149"/>
          <p:cNvSpPr/>
          <p:nvPr/>
        </p:nvSpPr>
        <p:spPr>
          <a:xfrm>
            <a:off x="6126480" y="1280160"/>
            <a:ext cx="2743200" cy="1170432"/>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236208" y="1325880"/>
            <a:ext cx="2523744" cy="457200"/>
          </a:xfrm>
          <a:prstGeom prst="rect">
            <a:avLst/>
          </a:prstGeom>
          <a:noFill/>
        </p:spPr>
        <p:txBody>
          <a:bodyPr wrap="square" lIns="36576" rIns="36576" tIns="27432" bIns="27432" anchor="ctr">
            <a:spAutoFit/>
          </a:bodyPr>
          <a:lstStyle/>
          <a:p>
            <a:pPr algn="l">
              <a:spcAft>
                <a:spcPts val="0"/>
              </a:spcAft>
              <a:buNone/>
            </a:pPr>
            <a:r>
              <a:rPr sz="2400">
                <a:solidFill>
                  <a:srgbClr val="B06000"/>
                </a:solidFill>
                <a:latin typeface="Google Sans Flex SemiBold"/>
                <a:ea typeface="Google Sans Flex SemiBold"/>
                <a:cs typeface="Google Sans Flex SemiBold"/>
                <a:sym typeface="Google Sans Flex SemiBold"/>
              </a:rPr>
              <a:t>254</a:t>
            </a:r>
          </a:p>
        </p:txBody>
      </p:sp>
      <p:sp>
        <p:nvSpPr>
          <p:cNvPr id="152" name="TextBox 151"/>
          <p:cNvSpPr txBox="1"/>
          <p:nvPr/>
        </p:nvSpPr>
        <p:spPr>
          <a:xfrm>
            <a:off x="6236208" y="1801367"/>
            <a:ext cx="2523744" cy="621792"/>
          </a:xfrm>
          <a:prstGeom prst="rect">
            <a:avLst/>
          </a:prstGeom>
          <a:noFill/>
        </p:spPr>
        <p:txBody>
          <a:bodyPr wrap="square" lIns="36576" rIns="36576" tIns="27432" bIns="27432" anchor="t">
            <a:spAutoFit/>
          </a:bodyPr>
          <a:lstStyle/>
          <a:p>
            <a:pPr algn="l">
              <a:spcAft>
                <a:spcPts val="0"/>
              </a:spcAft>
              <a:buNone/>
            </a:pPr>
            <a:r>
              <a:rPr sz="1100">
                <a:solidFill>
                  <a:srgbClr val="202124"/>
                </a:solidFill>
                <a:latin typeface="Google Sans Flex"/>
                <a:ea typeface="Google Sans Flex"/>
                <a:cs typeface="Google Sans Flex"/>
                <a:sym typeface="Google Sans Flex"/>
              </a:rPr>
              <a:t>passing backend tests</a:t>
            </a:r>
          </a:p>
        </p:txBody>
      </p:sp>
      <p:sp>
        <p:nvSpPr>
          <p:cNvPr id="153" name="Rounded Rectangle 152"/>
          <p:cNvSpPr/>
          <p:nvPr/>
        </p:nvSpPr>
        <p:spPr>
          <a:xfrm>
            <a:off x="274320" y="2560320"/>
            <a:ext cx="2743200" cy="1170432"/>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384048" y="2606039"/>
            <a:ext cx="2523744" cy="457200"/>
          </a:xfrm>
          <a:prstGeom prst="rect">
            <a:avLst/>
          </a:prstGeom>
          <a:noFill/>
        </p:spPr>
        <p:txBody>
          <a:bodyPr wrap="square" lIns="36576" rIns="36576" tIns="27432" bIns="27432" anchor="ctr">
            <a:spAutoFit/>
          </a:bodyPr>
          <a:lstStyle/>
          <a:p>
            <a:pPr algn="l">
              <a:spcAft>
                <a:spcPts val="0"/>
              </a:spcAft>
              <a:buNone/>
            </a:pPr>
            <a:r>
              <a:rPr sz="2400">
                <a:solidFill>
                  <a:srgbClr val="188038"/>
                </a:solidFill>
                <a:latin typeface="Google Sans Flex SemiBold"/>
                <a:ea typeface="Google Sans Flex SemiBold"/>
                <a:cs typeface="Google Sans Flex SemiBold"/>
                <a:sym typeface="Google Sans Flex SemiBold"/>
              </a:rPr>
              <a:t>5/5</a:t>
            </a:r>
          </a:p>
        </p:txBody>
      </p:sp>
      <p:sp>
        <p:nvSpPr>
          <p:cNvPr id="155" name="TextBox 154"/>
          <p:cNvSpPr txBox="1"/>
          <p:nvPr/>
        </p:nvSpPr>
        <p:spPr>
          <a:xfrm>
            <a:off x="384048" y="3081527"/>
            <a:ext cx="2523744" cy="621792"/>
          </a:xfrm>
          <a:prstGeom prst="rect">
            <a:avLst/>
          </a:prstGeom>
          <a:noFill/>
        </p:spPr>
        <p:txBody>
          <a:bodyPr wrap="square" lIns="36576" rIns="36576" tIns="27432" bIns="27432" anchor="t">
            <a:spAutoFit/>
          </a:bodyPr>
          <a:lstStyle/>
          <a:p>
            <a:pPr algn="l">
              <a:spcAft>
                <a:spcPts val="0"/>
              </a:spcAft>
              <a:buNone/>
            </a:pPr>
            <a:r>
              <a:rPr sz="1100">
                <a:solidFill>
                  <a:srgbClr val="202124"/>
                </a:solidFill>
                <a:latin typeface="Google Sans Flex"/>
                <a:ea typeface="Google Sans Flex"/>
                <a:cs typeface="Google Sans Flex"/>
                <a:sym typeface="Google Sans Flex"/>
              </a:rPr>
              <a:t>conditional trackers routed correctly</a:t>
            </a:r>
          </a:p>
        </p:txBody>
      </p:sp>
      <p:sp>
        <p:nvSpPr>
          <p:cNvPr id="156" name="Rounded Rectangle 155"/>
          <p:cNvSpPr/>
          <p:nvPr/>
        </p:nvSpPr>
        <p:spPr>
          <a:xfrm>
            <a:off x="3200400" y="2560320"/>
            <a:ext cx="2743200" cy="1170432"/>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3310128" y="2606039"/>
            <a:ext cx="2523744" cy="457200"/>
          </a:xfrm>
          <a:prstGeom prst="rect">
            <a:avLst/>
          </a:prstGeom>
          <a:noFill/>
        </p:spPr>
        <p:txBody>
          <a:bodyPr wrap="square" lIns="36576" rIns="36576" tIns="27432" bIns="27432" anchor="ctr">
            <a:spAutoFit/>
          </a:bodyPr>
          <a:lstStyle/>
          <a:p>
            <a:pPr algn="l">
              <a:spcAft>
                <a:spcPts val="0"/>
              </a:spcAft>
              <a:buNone/>
            </a:pPr>
            <a:r>
              <a:rPr sz="2400">
                <a:solidFill>
                  <a:srgbClr val="1A73E8"/>
                </a:solidFill>
                <a:latin typeface="Google Sans Flex SemiBold"/>
                <a:ea typeface="Google Sans Flex SemiBold"/>
                <a:cs typeface="Google Sans Flex SemiBold"/>
                <a:sym typeface="Google Sans Flex SemiBold"/>
              </a:rPr>
              <a:t>~1,100</a:t>
            </a:r>
          </a:p>
        </p:txBody>
      </p:sp>
      <p:sp>
        <p:nvSpPr>
          <p:cNvPr id="158" name="TextBox 157"/>
          <p:cNvSpPr txBox="1"/>
          <p:nvPr/>
        </p:nvSpPr>
        <p:spPr>
          <a:xfrm>
            <a:off x="3310128" y="3081527"/>
            <a:ext cx="2523744" cy="621792"/>
          </a:xfrm>
          <a:prstGeom prst="rect">
            <a:avLst/>
          </a:prstGeom>
          <a:noFill/>
        </p:spPr>
        <p:txBody>
          <a:bodyPr wrap="square" lIns="36576" rIns="36576" tIns="27432" bIns="27432" anchor="t">
            <a:spAutoFit/>
          </a:bodyPr>
          <a:lstStyle/>
          <a:p>
            <a:pPr algn="l">
              <a:spcAft>
                <a:spcPts val="0"/>
              </a:spcAft>
              <a:buNone/>
            </a:pPr>
            <a:r>
              <a:rPr sz="1100">
                <a:solidFill>
                  <a:srgbClr val="202124"/>
                </a:solidFill>
                <a:latin typeface="Google Sans Flex"/>
                <a:ea typeface="Google Sans Flex"/>
                <a:cs typeface="Google Sans Flex"/>
                <a:sym typeface="Google Sans Flex"/>
              </a:rPr>
              <a:t>billed input tokens for a typical call, 5 signals</a:t>
            </a:r>
          </a:p>
        </p:txBody>
      </p:sp>
      <p:sp>
        <p:nvSpPr>
          <p:cNvPr id="159" name="Rounded Rectangle 158"/>
          <p:cNvSpPr/>
          <p:nvPr/>
        </p:nvSpPr>
        <p:spPr>
          <a:xfrm>
            <a:off x="6126480" y="2560320"/>
            <a:ext cx="2743200" cy="1170432"/>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6236208" y="2606039"/>
            <a:ext cx="2523744" cy="457200"/>
          </a:xfrm>
          <a:prstGeom prst="rect">
            <a:avLst/>
          </a:prstGeom>
          <a:noFill/>
        </p:spPr>
        <p:txBody>
          <a:bodyPr wrap="square" lIns="36576" rIns="36576" tIns="27432" bIns="27432" anchor="ctr">
            <a:spAutoFit/>
          </a:bodyPr>
          <a:lstStyle/>
          <a:p>
            <a:pPr algn="l">
              <a:spcAft>
                <a:spcPts val="0"/>
              </a:spcAft>
              <a:buNone/>
            </a:pPr>
            <a:r>
              <a:rPr sz="2400">
                <a:solidFill>
                  <a:srgbClr val="B06000"/>
                </a:solidFill>
                <a:latin typeface="Google Sans Flex SemiBold"/>
                <a:ea typeface="Google Sans Flex SemiBold"/>
                <a:cs typeface="Google Sans Flex SemiBold"/>
                <a:sym typeface="Google Sans Flex SemiBold"/>
              </a:rPr>
              <a:t>29.6k → 5</a:t>
            </a:r>
          </a:p>
        </p:txBody>
      </p:sp>
      <p:sp>
        <p:nvSpPr>
          <p:cNvPr id="161" name="TextBox 160"/>
          <p:cNvSpPr txBox="1"/>
          <p:nvPr/>
        </p:nvSpPr>
        <p:spPr>
          <a:xfrm>
            <a:off x="6236208" y="3081527"/>
            <a:ext cx="2523744" cy="621792"/>
          </a:xfrm>
          <a:prstGeom prst="rect">
            <a:avLst/>
          </a:prstGeom>
          <a:noFill/>
        </p:spPr>
        <p:txBody>
          <a:bodyPr wrap="square" lIns="36576" rIns="36576" tIns="27432" bIns="27432" anchor="t">
            <a:spAutoFit/>
          </a:bodyPr>
          <a:lstStyle/>
          <a:p>
            <a:pPr algn="l">
              <a:spcAft>
                <a:spcPts val="0"/>
              </a:spcAft>
              <a:buNone/>
            </a:pPr>
            <a:r>
              <a:rPr sz="1100">
                <a:solidFill>
                  <a:srgbClr val="202124"/>
                </a:solidFill>
                <a:latin typeface="Google Sans Flex"/>
                <a:ea typeface="Google Sans Flex"/>
                <a:cs typeface="Google Sans Flex"/>
                <a:sym typeface="Google Sans Flex"/>
              </a:rPr>
              <a:t>a ~29.6k-token call auto-split into 5 Jev requests; a 32k call flagged, not sent</a:t>
            </a:r>
          </a:p>
        </p:txBody>
      </p:sp>
      <p:sp>
        <p:nvSpPr>
          <p:cNvPr id="162" name="Rounded Rectangle 161"/>
          <p:cNvSpPr/>
          <p:nvPr/>
        </p:nvSpPr>
        <p:spPr>
          <a:xfrm>
            <a:off x="274320" y="3886200"/>
            <a:ext cx="8595360" cy="8686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384048" y="3913632"/>
            <a:ext cx="8366760" cy="822960"/>
          </a:xfrm>
          <a:prstGeom prst="rect">
            <a:avLst/>
          </a:prstGeom>
          <a:noFill/>
        </p:spPr>
        <p:txBody>
          <a:bodyPr wrap="square" lIns="36576" rIns="36576" tIns="27432" bIns="27432" anchor="t">
            <a:spAutoFit/>
          </a:bodyPr>
          <a:lstStyle/>
          <a:p>
            <a:pPr algn="l">
              <a:spcAft>
                <a:spcPts val="300"/>
              </a:spcAft>
              <a:buNone/>
            </a:pPr>
            <a:r>
              <a:rPr sz="1100">
                <a:solidFill>
                  <a:srgbClr val="202124"/>
                </a:solidFill>
                <a:latin typeface="Google Sans Flex SemiBold"/>
                <a:ea typeface="Google Sans Flex SemiBold"/>
                <a:cs typeface="Google Sans Flex SemiBold"/>
                <a:sym typeface="Google Sans Flex SemiBold"/>
              </a:rPr>
              <a:t>Efficiency: </a:t>
            </a:r>
            <a:r>
              <a:rPr sz="1100">
                <a:solidFill>
                  <a:srgbClr val="202124"/>
                </a:solidFill>
                <a:latin typeface="Google Sans Flex"/>
                <a:ea typeface="Google Sans Flex"/>
                <a:cs typeface="Google Sans Flex"/>
                <a:sym typeface="Google Sans Flex"/>
              </a:rPr>
              <a:t>Insights read only call documents with a 30 s shared cache, about 20× fewer Firestore reads per view (≈600k → ≈10–30k at 10k calls × 10 signals). Low Gemini thinking on simple tiers and transcription.</a:t>
            </a:r>
          </a:p>
          <a:p>
            <a:pPr algn="l">
              <a:spcAft>
                <a:spcPts val="0"/>
              </a:spcAft>
              <a:buNone/>
            </a:pPr>
            <a:r>
              <a:rPr sz="1100">
                <a:solidFill>
                  <a:srgbClr val="202124"/>
                </a:solidFill>
                <a:latin typeface="Google Sans Flex SemiBold"/>
                <a:ea typeface="Google Sans Flex SemiBold"/>
                <a:cs typeface="Google Sans Flex SemiBold"/>
                <a:sym typeface="Google Sans Flex SemiBold"/>
              </a:rPr>
              <a:t>Confidence: </a:t>
            </a:r>
            <a:r>
              <a:rPr sz="1100">
                <a:solidFill>
                  <a:srgbClr val="202124"/>
                </a:solidFill>
                <a:latin typeface="Google Sans Flex"/>
                <a:ea typeface="Google Sans Flex"/>
                <a:cs typeface="Google Sans Flex"/>
                <a:sym typeface="Google Sans Flex"/>
              </a:rPr>
              <a:t>sample answers mostly 0.84–1.00; low-confidence ones routed to review.</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 / future development</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274320" y="1280160"/>
            <a:ext cx="2011680" cy="1645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384048" y="1389888"/>
            <a:ext cx="310896" cy="31089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1</a:t>
            </a:r>
          </a:p>
        </p:txBody>
      </p:sp>
      <p:sp>
        <p:nvSpPr>
          <p:cNvPr id="154" name="TextBox 153"/>
          <p:cNvSpPr txBox="1"/>
          <p:nvPr/>
        </p:nvSpPr>
        <p:spPr>
          <a:xfrm>
            <a:off x="365760" y="1783080"/>
            <a:ext cx="1828800" cy="310896"/>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Long calls</a:t>
            </a:r>
          </a:p>
        </p:txBody>
      </p:sp>
      <p:sp>
        <p:nvSpPr>
          <p:cNvPr id="155" name="TextBox 154"/>
          <p:cNvSpPr txBox="1"/>
          <p:nvPr/>
        </p:nvSpPr>
        <p:spPr>
          <a:xfrm>
            <a:off x="365760" y="2103120"/>
            <a:ext cx="1828800" cy="7772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Beyond the 30k-token limit</a:t>
            </a:r>
          </a:p>
        </p:txBody>
      </p:sp>
      <p:sp>
        <p:nvSpPr>
          <p:cNvPr id="156" name="Rounded Rectangle 155"/>
          <p:cNvSpPr/>
          <p:nvPr/>
        </p:nvSpPr>
        <p:spPr>
          <a:xfrm>
            <a:off x="2468879" y="1280160"/>
            <a:ext cx="2011680" cy="1645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2578608" y="1389888"/>
            <a:ext cx="310896" cy="31089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2</a:t>
            </a:r>
          </a:p>
        </p:txBody>
      </p:sp>
      <p:sp>
        <p:nvSpPr>
          <p:cNvPr id="158" name="TextBox 157"/>
          <p:cNvSpPr txBox="1"/>
          <p:nvPr/>
        </p:nvSpPr>
        <p:spPr>
          <a:xfrm>
            <a:off x="2560320" y="1783080"/>
            <a:ext cx="1828800" cy="310896"/>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Live analysis</a:t>
            </a:r>
          </a:p>
        </p:txBody>
      </p:sp>
      <p:sp>
        <p:nvSpPr>
          <p:cNvPr id="159" name="TextBox 158"/>
          <p:cNvSpPr txBox="1"/>
          <p:nvPr/>
        </p:nvSpPr>
        <p:spPr>
          <a:xfrm>
            <a:off x="2560320" y="2103120"/>
            <a:ext cx="1828800" cy="7772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Streaming, mid-call signals</a:t>
            </a:r>
          </a:p>
        </p:txBody>
      </p:sp>
      <p:sp>
        <p:nvSpPr>
          <p:cNvPr id="160" name="Rounded Rectangle 159"/>
          <p:cNvSpPr/>
          <p:nvPr/>
        </p:nvSpPr>
        <p:spPr>
          <a:xfrm>
            <a:off x="4663440" y="1280160"/>
            <a:ext cx="2011680" cy="1645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773168" y="1389888"/>
            <a:ext cx="310896" cy="31089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3</a:t>
            </a:r>
          </a:p>
        </p:txBody>
      </p:sp>
      <p:sp>
        <p:nvSpPr>
          <p:cNvPr id="162" name="TextBox 161"/>
          <p:cNvSpPr txBox="1"/>
          <p:nvPr/>
        </p:nvSpPr>
        <p:spPr>
          <a:xfrm>
            <a:off x="4754879" y="1783080"/>
            <a:ext cx="1828800" cy="310896"/>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Connectors</a:t>
            </a:r>
          </a:p>
        </p:txBody>
      </p:sp>
      <p:sp>
        <p:nvSpPr>
          <p:cNvPr id="163" name="TextBox 162"/>
          <p:cNvSpPr txBox="1"/>
          <p:nvPr/>
        </p:nvSpPr>
        <p:spPr>
          <a:xfrm>
            <a:off x="4754879" y="2103120"/>
            <a:ext cx="1828800" cy="7772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Twilio, Exotel, Genesys, WhatsApp, CRM</a:t>
            </a:r>
          </a:p>
        </p:txBody>
      </p:sp>
      <p:sp>
        <p:nvSpPr>
          <p:cNvPr id="164" name="Rounded Rectangle 163"/>
          <p:cNvSpPr/>
          <p:nvPr/>
        </p:nvSpPr>
        <p:spPr>
          <a:xfrm>
            <a:off x="6857999" y="1280160"/>
            <a:ext cx="2011680" cy="1645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6967727" y="1389888"/>
            <a:ext cx="310896" cy="31089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4</a:t>
            </a:r>
          </a:p>
        </p:txBody>
      </p:sp>
      <p:sp>
        <p:nvSpPr>
          <p:cNvPr id="166" name="TextBox 165"/>
          <p:cNvSpPr txBox="1"/>
          <p:nvPr/>
        </p:nvSpPr>
        <p:spPr>
          <a:xfrm>
            <a:off x="6949439" y="1783080"/>
            <a:ext cx="1828800" cy="310896"/>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Regional languages</a:t>
            </a:r>
          </a:p>
        </p:txBody>
      </p:sp>
      <p:sp>
        <p:nvSpPr>
          <p:cNvPr id="167" name="TextBox 166"/>
          <p:cNvSpPr txBox="1"/>
          <p:nvPr/>
        </p:nvSpPr>
        <p:spPr>
          <a:xfrm>
            <a:off x="6949439" y="2103120"/>
            <a:ext cx="1828800" cy="7772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Hindi and regional-language benchmarks</a:t>
            </a:r>
          </a:p>
        </p:txBody>
      </p:sp>
      <p:sp>
        <p:nvSpPr>
          <p:cNvPr id="168" name="Rounded Rectangle 167"/>
          <p:cNvSpPr/>
          <p:nvPr/>
        </p:nvSpPr>
        <p:spPr>
          <a:xfrm>
            <a:off x="274320" y="3063239"/>
            <a:ext cx="2011680" cy="1645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384048" y="3172968"/>
            <a:ext cx="310896" cy="31089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5</a:t>
            </a:r>
          </a:p>
        </p:txBody>
      </p:sp>
      <p:sp>
        <p:nvSpPr>
          <p:cNvPr id="170" name="TextBox 169"/>
          <p:cNvSpPr txBox="1"/>
          <p:nvPr/>
        </p:nvSpPr>
        <p:spPr>
          <a:xfrm>
            <a:off x="365760" y="3566159"/>
            <a:ext cx="1828800" cy="310896"/>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Cheaper transcription</a:t>
            </a:r>
          </a:p>
        </p:txBody>
      </p:sp>
      <p:sp>
        <p:nvSpPr>
          <p:cNvPr id="171" name="TextBox 170"/>
          <p:cNvSpPr txBox="1"/>
          <p:nvPr/>
        </p:nvSpPr>
        <p:spPr>
          <a:xfrm>
            <a:off x="365760" y="3886200"/>
            <a:ext cx="1828800" cy="7772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Flash-Lite after quality tests</a:t>
            </a:r>
          </a:p>
        </p:txBody>
      </p:sp>
      <p:sp>
        <p:nvSpPr>
          <p:cNvPr id="172" name="Rounded Rectangle 171"/>
          <p:cNvSpPr/>
          <p:nvPr/>
        </p:nvSpPr>
        <p:spPr>
          <a:xfrm>
            <a:off x="2468879" y="3063239"/>
            <a:ext cx="2011680" cy="1645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2578608" y="3172968"/>
            <a:ext cx="310896" cy="31089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6</a:t>
            </a:r>
          </a:p>
        </p:txBody>
      </p:sp>
      <p:sp>
        <p:nvSpPr>
          <p:cNvPr id="174" name="TextBox 173"/>
          <p:cNvSpPr txBox="1"/>
          <p:nvPr/>
        </p:nvSpPr>
        <p:spPr>
          <a:xfrm>
            <a:off x="2560320" y="3566159"/>
            <a:ext cx="1828800" cy="310896"/>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Billing</a:t>
            </a:r>
          </a:p>
        </p:txBody>
      </p:sp>
      <p:sp>
        <p:nvSpPr>
          <p:cNvPr id="175" name="TextBox 174"/>
          <p:cNvSpPr txBox="1"/>
          <p:nvPr/>
        </p:nvSpPr>
        <p:spPr>
          <a:xfrm>
            <a:off x="2560320" y="3886200"/>
            <a:ext cx="1828800" cy="7772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Per-token prepaid credits, Pro plan back on</a:t>
            </a:r>
          </a:p>
        </p:txBody>
      </p:sp>
      <p:sp>
        <p:nvSpPr>
          <p:cNvPr id="176" name="Rounded Rectangle 175"/>
          <p:cNvSpPr/>
          <p:nvPr/>
        </p:nvSpPr>
        <p:spPr>
          <a:xfrm>
            <a:off x="4663440" y="3063239"/>
            <a:ext cx="2011680" cy="1645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4773168" y="3172968"/>
            <a:ext cx="310896" cy="31089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7</a:t>
            </a:r>
          </a:p>
        </p:txBody>
      </p:sp>
      <p:sp>
        <p:nvSpPr>
          <p:cNvPr id="178" name="TextBox 177"/>
          <p:cNvSpPr txBox="1"/>
          <p:nvPr/>
        </p:nvSpPr>
        <p:spPr>
          <a:xfrm>
            <a:off x="4754879" y="3566159"/>
            <a:ext cx="1828800" cy="310896"/>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Alerts</a:t>
            </a:r>
          </a:p>
        </p:txBody>
      </p:sp>
      <p:sp>
        <p:nvSpPr>
          <p:cNvPr id="179" name="TextBox 178"/>
          <p:cNvSpPr txBox="1"/>
          <p:nvPr/>
        </p:nvSpPr>
        <p:spPr>
          <a:xfrm>
            <a:off x="4754879" y="3886200"/>
            <a:ext cx="1828800" cy="7772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On red-flag signals, e.g. churn risk, policy misstated</a:t>
            </a:r>
          </a:p>
        </p:txBody>
      </p:sp>
      <p:sp>
        <p:nvSpPr>
          <p:cNvPr id="180" name="Rounded Rectangle 179"/>
          <p:cNvSpPr/>
          <p:nvPr/>
        </p:nvSpPr>
        <p:spPr>
          <a:xfrm>
            <a:off x="6857999" y="3063239"/>
            <a:ext cx="2011680" cy="1645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6967727" y="3172968"/>
            <a:ext cx="310896" cy="31089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200">
                <a:solidFill>
                  <a:srgbClr val="FFFFFF"/>
                </a:solidFill>
                <a:latin typeface="Google Sans Flex SemiBold"/>
                <a:ea typeface="Google Sans Flex SemiBold"/>
                <a:cs typeface="Google Sans Flex SemiBold"/>
                <a:sym typeface="Google Sans Flex SemiBold"/>
              </a:rPr>
              <a:t>8</a:t>
            </a:r>
          </a:p>
        </p:txBody>
      </p:sp>
      <p:sp>
        <p:nvSpPr>
          <p:cNvPr id="182" name="TextBox 181"/>
          <p:cNvSpPr txBox="1"/>
          <p:nvPr/>
        </p:nvSpPr>
        <p:spPr>
          <a:xfrm>
            <a:off x="6949439" y="3566159"/>
            <a:ext cx="1828800" cy="310896"/>
          </a:xfrm>
          <a:prstGeom prst="rect">
            <a:avLst/>
          </a:prstGeom>
          <a:noFill/>
        </p:spPr>
        <p:txBody>
          <a:bodyPr wrap="square" lIns="36576" rIns="36576" tIns="27432" bIns="27432" anchor="t">
            <a:spAutoFit/>
          </a:bodyPr>
          <a:lstStyle/>
          <a:p>
            <a:pPr algn="l">
              <a:spcAft>
                <a:spcPts val="0"/>
              </a:spcAft>
              <a:buNone/>
            </a:pPr>
            <a:r>
              <a:rPr sz="1200">
                <a:solidFill>
                  <a:srgbClr val="202124"/>
                </a:solidFill>
                <a:latin typeface="Google Sans Flex SemiBold"/>
                <a:ea typeface="Google Sans Flex SemiBold"/>
                <a:cs typeface="Google Sans Flex SemiBold"/>
                <a:sym typeface="Google Sans Flex SemiBold"/>
              </a:rPr>
              <a:t>Multi-region</a:t>
            </a:r>
          </a:p>
        </p:txBody>
      </p:sp>
      <p:sp>
        <p:nvSpPr>
          <p:cNvPr id="183" name="TextBox 182"/>
          <p:cNvSpPr txBox="1"/>
          <p:nvPr/>
        </p:nvSpPr>
        <p:spPr>
          <a:xfrm>
            <a:off x="6949439" y="3886200"/>
            <a:ext cx="1828800" cy="7772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Run closer to customers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Links to our GitHub repository, demo video and final product</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274320" y="1325880"/>
            <a:ext cx="8595360" cy="91440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57200" y="1554480"/>
            <a:ext cx="457200" cy="45720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500">
                <a:solidFill>
                  <a:srgbClr val="FFFFFF"/>
                </a:solidFill>
                <a:latin typeface="Google Sans Flex SemiBold"/>
                <a:ea typeface="Google Sans Flex SemiBold"/>
                <a:cs typeface="Google Sans Flex SemiBold"/>
                <a:sym typeface="Google Sans Flex SemiBold"/>
              </a:rPr>
              <a:t>1</a:t>
            </a:r>
          </a:p>
        </p:txBody>
      </p:sp>
      <p:sp>
        <p:nvSpPr>
          <p:cNvPr id="162" name="TextBox 161"/>
          <p:cNvSpPr txBox="1"/>
          <p:nvPr/>
        </p:nvSpPr>
        <p:spPr>
          <a:xfrm>
            <a:off x="1097280" y="1417320"/>
            <a:ext cx="7589520" cy="310896"/>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SemiBold"/>
                <a:ea typeface="Google Sans Flex SemiBold"/>
                <a:cs typeface="Google Sans Flex SemiBold"/>
                <a:sym typeface="Google Sans Flex SemiBold"/>
              </a:rPr>
              <a:t>GitHub public repository</a:t>
            </a:r>
          </a:p>
        </p:txBody>
      </p:sp>
      <p:sp>
        <p:nvSpPr>
          <p:cNvPr id="163" name="TextBox 162"/>
          <p:cNvSpPr txBox="1"/>
          <p:nvPr/>
        </p:nvSpPr>
        <p:spPr>
          <a:xfrm>
            <a:off x="1097280" y="1737360"/>
            <a:ext cx="7589520" cy="411480"/>
          </a:xfrm>
          <a:prstGeom prst="rect">
            <a:avLst/>
          </a:prstGeom>
          <a:noFill/>
        </p:spPr>
        <p:txBody>
          <a:bodyPr wrap="square" lIns="36576" rIns="36576" tIns="27432" bIns="27432" anchor="t">
            <a:spAutoFit/>
          </a:bodyPr>
          <a:lstStyle/>
          <a:p>
            <a:pPr algn="l">
              <a:spcAft>
                <a:spcPts val="0"/>
              </a:spcAft>
              <a:buNone/>
            </a:pPr>
            <a:r>
              <a:rPr sz="1800">
                <a:solidFill>
                  <a:srgbClr val="1A73E8"/>
                </a:solidFill>
                <a:latin typeface="Google Sans Flex SemiBold"/>
                <a:ea typeface="Google Sans Flex SemiBold"/>
                <a:cs typeface="Google Sans Flex SemiBold"/>
                <a:sym typeface="Google Sans Flex SemiBold"/>
              </a:rPr>
              <a:t>[GitHub link]</a:t>
            </a:r>
          </a:p>
        </p:txBody>
      </p:sp>
      <p:sp>
        <p:nvSpPr>
          <p:cNvPr id="164" name="Rounded Rectangle 163"/>
          <p:cNvSpPr/>
          <p:nvPr/>
        </p:nvSpPr>
        <p:spPr>
          <a:xfrm>
            <a:off x="274320" y="2377439"/>
            <a:ext cx="8595360" cy="91440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457200" y="2606039"/>
            <a:ext cx="457200" cy="45720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500">
                <a:solidFill>
                  <a:srgbClr val="FFFFFF"/>
                </a:solidFill>
                <a:latin typeface="Google Sans Flex SemiBold"/>
                <a:ea typeface="Google Sans Flex SemiBold"/>
                <a:cs typeface="Google Sans Flex SemiBold"/>
                <a:sym typeface="Google Sans Flex SemiBold"/>
              </a:rPr>
              <a:t>2</a:t>
            </a:r>
          </a:p>
        </p:txBody>
      </p:sp>
      <p:sp>
        <p:nvSpPr>
          <p:cNvPr id="166" name="TextBox 165"/>
          <p:cNvSpPr txBox="1"/>
          <p:nvPr/>
        </p:nvSpPr>
        <p:spPr>
          <a:xfrm>
            <a:off x="1097280" y="2468879"/>
            <a:ext cx="7589520" cy="310896"/>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SemiBold"/>
                <a:ea typeface="Google Sans Flex SemiBold"/>
                <a:cs typeface="Google Sans Flex SemiBold"/>
                <a:sym typeface="Google Sans Flex SemiBold"/>
              </a:rPr>
              <a:t>Demo video (3 minutes)</a:t>
            </a:r>
          </a:p>
        </p:txBody>
      </p:sp>
      <p:sp>
        <p:nvSpPr>
          <p:cNvPr id="167" name="TextBox 166"/>
          <p:cNvSpPr txBox="1"/>
          <p:nvPr/>
        </p:nvSpPr>
        <p:spPr>
          <a:xfrm>
            <a:off x="1097280" y="2788920"/>
            <a:ext cx="7589520" cy="411480"/>
          </a:xfrm>
          <a:prstGeom prst="rect">
            <a:avLst/>
          </a:prstGeom>
          <a:noFill/>
        </p:spPr>
        <p:txBody>
          <a:bodyPr wrap="square" lIns="36576" rIns="36576" tIns="27432" bIns="27432" anchor="t">
            <a:spAutoFit/>
          </a:bodyPr>
          <a:lstStyle/>
          <a:p>
            <a:pPr algn="l">
              <a:spcAft>
                <a:spcPts val="0"/>
              </a:spcAft>
              <a:buNone/>
            </a:pPr>
            <a:r>
              <a:rPr sz="1800">
                <a:solidFill>
                  <a:srgbClr val="188038"/>
                </a:solidFill>
                <a:latin typeface="Google Sans Flex SemiBold"/>
                <a:ea typeface="Google Sans Flex SemiBold"/>
                <a:cs typeface="Google Sans Flex SemiBold"/>
                <a:sym typeface="Google Sans Flex SemiBold"/>
              </a:rPr>
              <a:t>[Demo video link]</a:t>
            </a:r>
          </a:p>
        </p:txBody>
      </p:sp>
      <p:sp>
        <p:nvSpPr>
          <p:cNvPr id="168" name="Rounded Rectangle 167"/>
          <p:cNvSpPr/>
          <p:nvPr/>
        </p:nvSpPr>
        <p:spPr>
          <a:xfrm>
            <a:off x="274320" y="3429000"/>
            <a:ext cx="8595360" cy="91440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457200" y="3657600"/>
            <a:ext cx="457200" cy="457200"/>
          </a:xfrm>
          <a:prstGeom prst="ellipse">
            <a:avLst/>
          </a:prstGeom>
          <a:solidFill>
            <a:srgbClr val="B06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500">
                <a:solidFill>
                  <a:srgbClr val="FFFFFF"/>
                </a:solidFill>
                <a:latin typeface="Google Sans Flex SemiBold"/>
                <a:ea typeface="Google Sans Flex SemiBold"/>
                <a:cs typeface="Google Sans Flex SemiBold"/>
                <a:sym typeface="Google Sans Flex SemiBold"/>
              </a:rPr>
              <a:t>3</a:t>
            </a:r>
          </a:p>
        </p:txBody>
      </p:sp>
      <p:sp>
        <p:nvSpPr>
          <p:cNvPr id="170" name="TextBox 169"/>
          <p:cNvSpPr txBox="1"/>
          <p:nvPr/>
        </p:nvSpPr>
        <p:spPr>
          <a:xfrm>
            <a:off x="1097280" y="3520440"/>
            <a:ext cx="7589520" cy="310896"/>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SemiBold"/>
                <a:ea typeface="Google Sans Flex SemiBold"/>
                <a:cs typeface="Google Sans Flex SemiBold"/>
                <a:sym typeface="Google Sans Flex SemiBold"/>
              </a:rPr>
              <a:t>Final product</a:t>
            </a:r>
          </a:p>
        </p:txBody>
      </p:sp>
      <p:sp>
        <p:nvSpPr>
          <p:cNvPr id="171" name="TextBox 170"/>
          <p:cNvSpPr txBox="1"/>
          <p:nvPr/>
        </p:nvSpPr>
        <p:spPr>
          <a:xfrm>
            <a:off x="1097280" y="3840480"/>
            <a:ext cx="7589520" cy="411480"/>
          </a:xfrm>
          <a:prstGeom prst="rect">
            <a:avLst/>
          </a:prstGeom>
          <a:noFill/>
        </p:spPr>
        <p:txBody>
          <a:bodyPr wrap="square" lIns="36576" rIns="36576" tIns="27432" bIns="27432" anchor="t">
            <a:spAutoFit/>
          </a:bodyPr>
          <a:lstStyle/>
          <a:p>
            <a:pPr algn="l">
              <a:spcAft>
                <a:spcPts val="0"/>
              </a:spcAft>
              <a:buNone/>
            </a:pPr>
            <a:r>
              <a:rPr sz="1800">
                <a:solidFill>
                  <a:srgbClr val="B06000"/>
                </a:solidFill>
                <a:latin typeface="Google Sans Flex SemiBold"/>
                <a:ea typeface="Google Sans Flex SemiBold"/>
                <a:cs typeface="Google Sans Flex SemiBold"/>
                <a:sym typeface="Google Sans Flex SemiBold"/>
                <a:hlinkClick r:id="rId5"/>
              </a:rPr>
              <a:t>https://gen-lang-client-0902222994.web.app</a:t>
            </a:r>
          </a:p>
        </p:txBody>
      </p:sp>
      <p:sp>
        <p:nvSpPr>
          <p:cNvPr id="172" name="TextBox 171"/>
          <p:cNvSpPr txBox="1"/>
          <p:nvPr/>
        </p:nvSpPr>
        <p:spPr>
          <a:xfrm>
            <a:off x="274320" y="4526280"/>
            <a:ext cx="8595360" cy="27432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Medium"/>
                <a:ea typeface="Google Sans Flex Medium"/>
                <a:cs typeface="Google Sans Flex Medium"/>
                <a:sym typeface="Google Sans Flex Medium"/>
              </a:rPr>
              <a:t>You keep your conversations, we handle the rest.</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Rounded Rectangle 166"/>
          <p:cNvSpPr/>
          <p:nvPr/>
        </p:nvSpPr>
        <p:spPr>
          <a:xfrm>
            <a:off x="274320" y="1371600"/>
            <a:ext cx="8595360" cy="30175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48640" y="1600200"/>
            <a:ext cx="8046720" cy="640080"/>
          </a:xfrm>
          <a:prstGeom prst="rect">
            <a:avLst/>
          </a:prstGeom>
          <a:noFill/>
        </p:spPr>
        <p:txBody>
          <a:bodyPr wrap="square" lIns="36576" rIns="36576" tIns="27432" bIns="27432" anchor="t">
            <a:spAutoFit/>
          </a:bodyPr>
          <a:lstStyle/>
          <a:p>
            <a:pPr algn="l">
              <a:spcAft>
                <a:spcPts val="0"/>
              </a:spcAft>
              <a:buNone/>
            </a:pPr>
            <a:r>
              <a:rPr sz="2400">
                <a:solidFill>
                  <a:srgbClr val="1A73E8"/>
                </a:solidFill>
                <a:latin typeface="Google Sans Flex SemiBold"/>
                <a:ea typeface="Google Sans Flex SemiBold"/>
                <a:cs typeface="Google Sans Flex SemiBold"/>
                <a:sym typeface="Google Sans Flex SemiBold"/>
              </a:rPr>
              <a:t>You keep your conversations, we handle the rest.</a:t>
            </a:r>
          </a:p>
        </p:txBody>
      </p:sp>
      <p:sp>
        <p:nvSpPr>
          <p:cNvPr id="169" name="Oval 168"/>
          <p:cNvSpPr/>
          <p:nvPr/>
        </p:nvSpPr>
        <p:spPr>
          <a:xfrm>
            <a:off x="548640" y="2468880"/>
            <a:ext cx="402336" cy="40233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400">
                <a:solidFill>
                  <a:srgbClr val="FFFFFF"/>
                </a:solidFill>
                <a:latin typeface="Google Sans Flex SemiBold"/>
                <a:ea typeface="Google Sans Flex SemiBold"/>
                <a:cs typeface="Google Sans Flex SemiBold"/>
                <a:sym typeface="Google Sans Flex SemiBold"/>
              </a:rPr>
              <a:t>1</a:t>
            </a:r>
          </a:p>
        </p:txBody>
      </p:sp>
      <p:sp>
        <p:nvSpPr>
          <p:cNvPr id="170" name="TextBox 169"/>
          <p:cNvSpPr txBox="1"/>
          <p:nvPr/>
        </p:nvSpPr>
        <p:spPr>
          <a:xfrm>
            <a:off x="1051560" y="2395728"/>
            <a:ext cx="2103120" cy="274320"/>
          </a:xfrm>
          <a:prstGeom prst="rect">
            <a:avLst/>
          </a:prstGeom>
          <a:noFill/>
        </p:spPr>
        <p:txBody>
          <a:bodyPr wrap="square" lIns="36576" rIns="36576" tIns="27432" bIns="27432" anchor="t">
            <a:spAutoFit/>
          </a:bodyPr>
          <a:lstStyle/>
          <a:p>
            <a:pPr algn="l">
              <a:spcAft>
                <a:spcPts val="0"/>
              </a:spcAft>
              <a:buNone/>
            </a:pPr>
            <a:r>
              <a:rPr sz="1300">
                <a:solidFill>
                  <a:srgbClr val="202124"/>
                </a:solidFill>
                <a:latin typeface="Google Sans Flex SemiBold"/>
                <a:ea typeface="Google Sans Flex SemiBold"/>
                <a:cs typeface="Google Sans Flex SemiBold"/>
                <a:sym typeface="Google Sans Flex SemiBold"/>
              </a:rPr>
              <a:t>Every conversation</a:t>
            </a:r>
          </a:p>
        </p:txBody>
      </p:sp>
      <p:sp>
        <p:nvSpPr>
          <p:cNvPr id="171" name="TextBox 170"/>
          <p:cNvSpPr txBox="1"/>
          <p:nvPr/>
        </p:nvSpPr>
        <p:spPr>
          <a:xfrm>
            <a:off x="1051560" y="2670048"/>
            <a:ext cx="2103120" cy="5486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asked the same questions</a:t>
            </a:r>
          </a:p>
        </p:txBody>
      </p:sp>
      <p:sp>
        <p:nvSpPr>
          <p:cNvPr id="172" name="Oval 171"/>
          <p:cNvSpPr/>
          <p:nvPr/>
        </p:nvSpPr>
        <p:spPr>
          <a:xfrm>
            <a:off x="3291840" y="2468880"/>
            <a:ext cx="402336" cy="40233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400">
                <a:solidFill>
                  <a:srgbClr val="FFFFFF"/>
                </a:solidFill>
                <a:latin typeface="Google Sans Flex SemiBold"/>
                <a:ea typeface="Google Sans Flex SemiBold"/>
                <a:cs typeface="Google Sans Flex SemiBold"/>
                <a:sym typeface="Google Sans Flex SemiBold"/>
              </a:rPr>
              <a:t>2</a:t>
            </a:r>
          </a:p>
        </p:txBody>
      </p:sp>
      <p:sp>
        <p:nvSpPr>
          <p:cNvPr id="173" name="TextBox 172"/>
          <p:cNvSpPr txBox="1"/>
          <p:nvPr/>
        </p:nvSpPr>
        <p:spPr>
          <a:xfrm>
            <a:off x="3794760" y="2395728"/>
            <a:ext cx="2103120" cy="274320"/>
          </a:xfrm>
          <a:prstGeom prst="rect">
            <a:avLst/>
          </a:prstGeom>
          <a:noFill/>
        </p:spPr>
        <p:txBody>
          <a:bodyPr wrap="square" lIns="36576" rIns="36576" tIns="27432" bIns="27432" anchor="t">
            <a:spAutoFit/>
          </a:bodyPr>
          <a:lstStyle/>
          <a:p>
            <a:pPr algn="l">
              <a:spcAft>
                <a:spcPts val="0"/>
              </a:spcAft>
              <a:buNone/>
            </a:pPr>
            <a:r>
              <a:rPr sz="1300">
                <a:solidFill>
                  <a:srgbClr val="202124"/>
                </a:solidFill>
                <a:latin typeface="Google Sans Flex SemiBold"/>
                <a:ea typeface="Google Sans Flex SemiBold"/>
                <a:cs typeface="Google Sans Flex SemiBold"/>
                <a:sym typeface="Google Sans Flex SemiBold"/>
              </a:rPr>
              <a:t>Every answer</a:t>
            </a:r>
          </a:p>
        </p:txBody>
      </p:sp>
      <p:sp>
        <p:nvSpPr>
          <p:cNvPr id="174" name="TextBox 173"/>
          <p:cNvSpPr txBox="1"/>
          <p:nvPr/>
        </p:nvSpPr>
        <p:spPr>
          <a:xfrm>
            <a:off x="3794760" y="2670048"/>
            <a:ext cx="2103120" cy="5486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with a confidence score</a:t>
            </a:r>
          </a:p>
        </p:txBody>
      </p:sp>
      <p:sp>
        <p:nvSpPr>
          <p:cNvPr id="175" name="Oval 174"/>
          <p:cNvSpPr/>
          <p:nvPr/>
        </p:nvSpPr>
        <p:spPr>
          <a:xfrm>
            <a:off x="6035040" y="2468880"/>
            <a:ext cx="402336" cy="40233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buNone/>
            </a:pPr>
            <a:r>
              <a:rPr sz="1400">
                <a:solidFill>
                  <a:srgbClr val="FFFFFF"/>
                </a:solidFill>
                <a:latin typeface="Google Sans Flex SemiBold"/>
                <a:ea typeface="Google Sans Flex SemiBold"/>
                <a:cs typeface="Google Sans Flex SemiBold"/>
                <a:sym typeface="Google Sans Flex SemiBold"/>
              </a:rPr>
              <a:t>3</a:t>
            </a:r>
          </a:p>
        </p:txBody>
      </p:sp>
      <p:sp>
        <p:nvSpPr>
          <p:cNvPr id="176" name="TextBox 175"/>
          <p:cNvSpPr txBox="1"/>
          <p:nvPr/>
        </p:nvSpPr>
        <p:spPr>
          <a:xfrm>
            <a:off x="6537959" y="2395728"/>
            <a:ext cx="2103120" cy="274320"/>
          </a:xfrm>
          <a:prstGeom prst="rect">
            <a:avLst/>
          </a:prstGeom>
          <a:noFill/>
        </p:spPr>
        <p:txBody>
          <a:bodyPr wrap="square" lIns="36576" rIns="36576" tIns="27432" bIns="27432" anchor="t">
            <a:spAutoFit/>
          </a:bodyPr>
          <a:lstStyle/>
          <a:p>
            <a:pPr algn="l">
              <a:spcAft>
                <a:spcPts val="0"/>
              </a:spcAft>
              <a:buNone/>
            </a:pPr>
            <a:r>
              <a:rPr sz="1300">
                <a:solidFill>
                  <a:srgbClr val="202124"/>
                </a:solidFill>
                <a:latin typeface="Google Sans Flex SemiBold"/>
                <a:ea typeface="Google Sans Flex SemiBold"/>
                <a:cs typeface="Google Sans Flex SemiBold"/>
                <a:sym typeface="Google Sans Flex SemiBold"/>
              </a:rPr>
              <a:t>Every insight</a:t>
            </a:r>
          </a:p>
        </p:txBody>
      </p:sp>
      <p:sp>
        <p:nvSpPr>
          <p:cNvPr id="177" name="TextBox 176"/>
          <p:cNvSpPr txBox="1"/>
          <p:nvPr/>
        </p:nvSpPr>
        <p:spPr>
          <a:xfrm>
            <a:off x="6537959" y="2670048"/>
            <a:ext cx="2103120" cy="548640"/>
          </a:xfrm>
          <a:prstGeom prst="rect">
            <a:avLst/>
          </a:prstGeom>
          <a:noFill/>
        </p:spPr>
        <p:txBody>
          <a:bodyPr wrap="square" lIns="36576" rIns="36576" tIns="27432" bIns="27432" anchor="t">
            <a:spAutoFit/>
          </a:bodyPr>
          <a:lstStyle/>
          <a:p>
            <a:pPr algn="l">
              <a:spcAft>
                <a:spcPts val="0"/>
              </a:spcAft>
              <a:buNone/>
            </a:pPr>
            <a:r>
              <a:rPr sz="1200">
                <a:solidFill>
                  <a:srgbClr val="5F6368"/>
                </a:solidFill>
                <a:latin typeface="Google Sans Flex"/>
                <a:ea typeface="Google Sans Flex"/>
                <a:cs typeface="Google Sans Flex"/>
                <a:sym typeface="Google Sans Flex"/>
              </a:rPr>
              <a:t>from trends to Ask alteria</a:t>
            </a:r>
          </a:p>
        </p:txBody>
      </p:sp>
      <p:sp>
        <p:nvSpPr>
          <p:cNvPr id="178" name="TextBox 177"/>
          <p:cNvSpPr txBox="1"/>
          <p:nvPr/>
        </p:nvSpPr>
        <p:spPr>
          <a:xfrm>
            <a:off x="548640" y="3566160"/>
            <a:ext cx="8046720" cy="640080"/>
          </a:xfrm>
          <a:prstGeom prst="rect">
            <a:avLst/>
          </a:prstGeom>
          <a:noFill/>
        </p:spPr>
        <p:txBody>
          <a:bodyPr wrap="square" lIns="36576" rIns="36576" tIns="27432" bIns="27432" anchor="t">
            <a:spAutoFit/>
          </a:bodyPr>
          <a:lstStyle/>
          <a:p>
            <a:pPr algn="l">
              <a:spcAft>
                <a:spcPts val="0"/>
              </a:spcAft>
              <a:buNone/>
            </a:pPr>
            <a:r>
              <a:rPr sz="1300">
                <a:solidFill>
                  <a:srgbClr val="202124"/>
                </a:solidFill>
                <a:latin typeface="Google Sans Flex"/>
                <a:ea typeface="Google Sans Flex"/>
                <a:cs typeface="Google Sans Flex"/>
                <a:sym typeface="Google Sans Flex"/>
              </a:rPr>
              <a:t>aftercall · Koffee after KitKat · </a:t>
            </a:r>
            <a:r>
              <a:rPr sz="1300">
                <a:solidFill>
                  <a:srgbClr val="1A73E8"/>
                </a:solidFill>
                <a:latin typeface="Google Sans Flex"/>
                <a:ea typeface="Google Sans Flex"/>
                <a:cs typeface="Google Sans Flex"/>
                <a:sym typeface="Google Sans Flex"/>
                <a:hlinkClick r:id="rId5"/>
              </a:rPr>
              <a:t>gen-lang-client-0902222994.web.app</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